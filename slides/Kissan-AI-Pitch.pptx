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ASSALAM-O-ALAIKUM. I'm Muhammad Adeel, and this is Kissan AI — an AI farming assistant built for smallholder farmers in Pakistan.
The one-line version: farming advice that speaks your language. Not just translated into Urdu — designed in Urdu from the first screen.
([25 s] Point at the live URL. Say it's deployed,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farmer makes dozens of decisions in a season: when to water, when to spray, what's wrong with this leaf, is the weather about to ruin everything.
Four things make that hard. Advice is scattered across the pesticide shop, YouTube, neighbours and an extension officer who visits twice a year. Risk is invisible until the damage is done. A proper diagnosis costs a photo, a journey and a wait — so most people guess, or over-spray. And almost every agri-app is English-first, which excludes exactly the people who farm.
The information exists. It just never reaches the farmer in a form they can use.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put ten jobs in one app: crop diagnosis, an AI assistant with voice, weather, irrigation, risk alerts, today's actions, yield, crop calendar, expenses and a farm profile.
Two languages that matter — Urdu and English — with full right-to-left layout.
And it runs on a phone, in the field, on a weak connection.
([45 s] Don't read all ten cards. Sweep your hand across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farm on one screen. Today's weather and the week ahead, the crop and its stage, farm health, active risks, when irrigation is due, and recent diagnoses.
Everything the AI needs to answer a question is already here — which is why the answers sound like they're about THIS farm, not farms in general.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people react to. You take a photo of a sick leaf, and you get a diagnosis: what it probably is, how severe, how confident, why it happened, what to do — and what not to assume.
Notice it's in Urdu, and the advice is a smallholder's advice: what you can actually afford and safely do.
Two things I want to highlight. First, it's saved to history, so the farm remembers. Second — the language isn't left to the model's mood. The server checks the script of every field and repairs it if the model drifts back to English.
([55 s — pause and let the panel read the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just ask. 'What should I do today?' or 'meri fasal ke liye aaj kya karna chahiye?'
It answers using the farm's own data — crop, stage, soil, water, weather, risks — and it can read the answer aloud, including key points and next steps, so a farmer who can't read comfortably can still use it.
([45 s] If live: one short spoken question. Have a typed fallback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is the easy part — forecast from Open-Meteo, no key, no billing. The useful part is what we do with it: every forecast is translated into farming impact, not just degrees.
Irrigation combines that with soil type, irrigation method, crop stage and recent rain, and tells you when to water and roughly how much — and it explains why, so you can trust it.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screen looks ahead: heat, frost, rain, wind, pest and disease windows. Every alert tells you what triggered it and when the window is.
Then Today's Actions turns all of it into a short ordered list — ideally one screen the farmer can act on in under a minute.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season and the money. Yield gives an estimate WITH the factors behind it — not a magic number. Expenses track cost by category across the season, and the calendar ties sowing to harvest using the real crop stage.
The point is the next season being cheaper and better planned than this one.
([35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slide on the decision I'm proudest of, because it's the one most teams skip.
Urdu isn't a translation layer here — it's the product. Real right-to-left layout using logical properties, so screens mirror instead of breaking. Noto Sans Urdu for the UI, because Nastaliq is beautiful but unreadable at 13 pixels. And the AI answers in the language the app is set to, enforced on the server.
There's also a test that fails the build if English and Urdu ever drift apart. [Point at the Urdu strip.] That's the product, not a translation of it.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boring. React, TypeScript, Vite and Tailwind on the client; Supabase for Postgres, auth, storage and row-level security; ten Deno edge functions for anything that needs a secret; Gemini for vision, text and speech, with OpenRouter as a fallback; Open-Meteo for weather, which is free and needs no key.
The browser never sees an API key. That was a hard rule from day one.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design decision that makes the rest work.
Anything that must be right is deterministic code, not a model. Growth stage, risk scoring, irrigation amounts and yield are plain TypeScript engines — same input, same answer, explainable, testable, and free.
The model only does language: reading the photo and writing the sentence. It never decides the risk score or the watering amount.
And because models drift, the language is enforced server-side: prompt, schema hints, a script check on every field, and a repair pass if the output comes back in the wrong language.
([60 s — this is where technical judges decide whether you built or assembled.])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 automated tests, every table behind row-level security, every function JWT-verified, and typecheck plus a production build gating changes.
And no placeholder numbers in the interface: when data is missing, the screen says so instead of inventing it.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it's built, it's deployed, and it's in Urdu.
What it needs now is farmers. My ask is a pilot with 25 to 50 farmers this season, and mentorship on turning this prototype into something they keep using after harvest.
Thank you — happy to take questions, and happy to demo in Urdu.
([35 s] End with the ask, not 'that's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Final year project · 2026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 / 14</a:t>
            </a:r>
            <a:endParaRPr lang="en-US" sz="850" dirty="0"/>
          </a:p>
        </p:txBody>
      </p:sp>
      <p:sp>
        <p:nvSpPr>
          <p:cNvPr id="7" name="Shape 5"/>
          <p:cNvSpPr/>
          <p:nvPr/>
        </p:nvSpPr>
        <p:spPr>
          <a:xfrm>
            <a:off x="566928" y="1298448"/>
            <a:ext cx="4480560" cy="420624"/>
          </a:xfrm>
          <a:prstGeom prst="roundRect">
            <a:avLst>
              <a:gd name="adj" fmla="val 50000"/>
            </a:avLst>
          </a:prstGeom>
          <a:solidFill>
            <a:srgbClr val="1C2612"/>
          </a:solidFill>
          <a:ln w="12700">
            <a:solidFill>
              <a:srgbClr val="3A4A26"/>
            </a:solidFill>
            <a:prstDash val="solid"/>
          </a:ln>
        </p:spPr>
      </p:sp>
      <p:sp>
        <p:nvSpPr>
          <p:cNvPr id="8" name="Text 6"/>
          <p:cNvSpPr/>
          <p:nvPr/>
        </p:nvSpPr>
        <p:spPr>
          <a:xfrm>
            <a:off x="749808" y="1298448"/>
            <a:ext cx="4297680" cy="420624"/>
          </a:xfrm>
          <a:prstGeom prst="rect">
            <a:avLst/>
          </a:prstGeom>
          <a:noFill/>
          <a:ln/>
        </p:spPr>
        <p:txBody>
          <a:bodyPr wrap="square" rtlCol="0" anchor="ctr"/>
          <a:lstStyle/>
          <a:p>
            <a:pPr indent="0" marL="0">
              <a:buNone/>
            </a:pPr>
            <a:r>
              <a:rPr lang="en-US" sz="800" dirty="0">
                <a:solidFill>
                  <a:srgbClr val="B4CD56"/>
                </a:solidFill>
                <a:latin typeface="Segoe UI" pitchFamily="34" charset="0"/>
                <a:ea typeface="Segoe UI" pitchFamily="34" charset="-122"/>
                <a:cs typeface="Segoe UI" pitchFamily="34" charset="-120"/>
              </a:rPr>
              <a:t>●  </a:t>
            </a:r>
            <a:pPr indent="0" marL="0">
              <a:buNone/>
            </a:pPr>
            <a:r>
              <a:rPr lang="en-US" sz="1050" b="1" dirty="0">
                <a:solidFill>
                  <a:srgbClr val="D6E6AC"/>
                </a:solidFill>
                <a:latin typeface="Segoe UI" pitchFamily="34" charset="0"/>
                <a:ea typeface="Segoe UI" pitchFamily="34" charset="-122"/>
                <a:cs typeface="Segoe UI" pitchFamily="34" charset="-120"/>
              </a:rPr>
              <a:t>Urdu-first · Offline-tolerant · Built for smallholders</a:t>
            </a:r>
            <a:endParaRPr lang="en-US" sz="800" dirty="0"/>
          </a:p>
        </p:txBody>
      </p:sp>
      <p:sp>
        <p:nvSpPr>
          <p:cNvPr id="9" name="Text 7"/>
          <p:cNvSpPr/>
          <p:nvPr/>
        </p:nvSpPr>
        <p:spPr>
          <a:xfrm>
            <a:off x="566928" y="2011680"/>
            <a:ext cx="5852160" cy="2148840"/>
          </a:xfrm>
          <a:prstGeom prst="rect">
            <a:avLst/>
          </a:prstGeom>
          <a:noFill/>
          <a:ln/>
        </p:spPr>
        <p:txBody>
          <a:bodyPr wrap="square" rtlCol="0" anchor="ctr"/>
          <a:lstStyle/>
          <a:p>
            <a:pPr indent="0" marL="0">
              <a:lnSpc>
                <a:spcPts val="4400"/>
              </a:lnSpc>
              <a:buNone/>
            </a:pPr>
            <a:r>
              <a:rPr lang="en-US" sz="3800" b="1" dirty="0">
                <a:solidFill>
                  <a:srgbClr val="E9EFE1"/>
                </a:solidFill>
                <a:latin typeface="Segoe UI" pitchFamily="34" charset="0"/>
                <a:ea typeface="Segoe UI" pitchFamily="34" charset="-122"/>
                <a:cs typeface="Segoe UI" pitchFamily="34" charset="-120"/>
              </a:rPr>
              <a:t>Farming advice
</a:t>
            </a:r>
            <a:pPr indent="0" marL="0">
              <a:lnSpc>
                <a:spcPts val="4400"/>
              </a:lnSpc>
              <a:buNone/>
            </a:pPr>
            <a:r>
              <a:rPr lang="en-US" sz="3800" b="1" dirty="0">
                <a:solidFill>
                  <a:srgbClr val="E9EFE1"/>
                </a:solidFill>
                <a:latin typeface="Segoe UI" pitchFamily="34" charset="0"/>
                <a:ea typeface="Segoe UI" pitchFamily="34" charset="-122"/>
                <a:cs typeface="Segoe UI" pitchFamily="34" charset="-120"/>
              </a:rPr>
              <a:t>that speaks
</a:t>
            </a:r>
            <a:pPr indent="0" marL="0">
              <a:lnSpc>
                <a:spcPts val="4400"/>
              </a:lnSpc>
              <a:buNone/>
            </a:pPr>
            <a:r>
              <a:rPr lang="en-US" sz="3800" b="1" dirty="0">
                <a:solidFill>
                  <a:srgbClr val="B4CD56"/>
                </a:solidFill>
                <a:latin typeface="Segoe UI" pitchFamily="34" charset="0"/>
                <a:ea typeface="Segoe UI" pitchFamily="34" charset="-122"/>
                <a:cs typeface="Segoe UI" pitchFamily="34" charset="-120"/>
              </a:rPr>
              <a:t>your language.</a:t>
            </a:r>
            <a:endParaRPr lang="en-US" sz="3800" dirty="0"/>
          </a:p>
        </p:txBody>
      </p:sp>
      <p:sp>
        <p:nvSpPr>
          <p:cNvPr id="10" name="Text 8"/>
          <p:cNvSpPr/>
          <p:nvPr/>
        </p:nvSpPr>
        <p:spPr>
          <a:xfrm>
            <a:off x="566928" y="4343400"/>
            <a:ext cx="5394960" cy="914400"/>
          </a:xfrm>
          <a:prstGeom prst="rect">
            <a:avLst/>
          </a:prstGeom>
          <a:noFill/>
          <a:ln/>
        </p:spPr>
        <p:txBody>
          <a:bodyPr wrap="square" rtlCol="0" anchor="t"/>
          <a:lstStyle/>
          <a:p>
            <a:pPr indent="0" marL="0">
              <a:lnSpc>
                <a:spcPts val="1900"/>
              </a:lnSpc>
              <a:buNone/>
            </a:pPr>
            <a:r>
              <a:rPr lang="en-US" sz="1300" dirty="0">
                <a:solidFill>
                  <a:srgbClr val="9FAC93"/>
                </a:solidFill>
                <a:latin typeface="Segoe UI" pitchFamily="34" charset="0"/>
                <a:ea typeface="Segoe UI" pitchFamily="34" charset="-122"/>
                <a:cs typeface="Segoe UI" pitchFamily="34" charset="-120"/>
              </a:rPr>
              <a:t>An AI assistant that turns a crop photo, today's weather and the farm's own records into one clear next step — in Urdu or English.</a:t>
            </a:r>
            <a:endParaRPr lang="en-US" sz="1300" dirty="0"/>
          </a:p>
        </p:txBody>
      </p:sp>
      <p:sp>
        <p:nvSpPr>
          <p:cNvPr id="11" name="Text 9"/>
          <p:cNvSpPr/>
          <p:nvPr/>
        </p:nvSpPr>
        <p:spPr>
          <a:xfrm>
            <a:off x="566928" y="5669280"/>
            <a:ext cx="5669280" cy="310896"/>
          </a:xfrm>
          <a:prstGeom prst="rect">
            <a:avLst/>
          </a:prstGeom>
          <a:noFill/>
          <a:ln/>
        </p:spPr>
        <p:txBody>
          <a:bodyPr wrap="square" rtlCol="0" anchor="ctr"/>
          <a:lstStyle/>
          <a:p>
            <a:pPr indent="0" marL="0">
              <a:buNone/>
            </a:pPr>
            <a:r>
              <a:rPr lang="en-US" sz="1050" dirty="0">
                <a:solidFill>
                  <a:srgbClr val="6F7D66"/>
                </a:solidFill>
                <a:latin typeface="Segoe UI" pitchFamily="34" charset="0"/>
                <a:ea typeface="Segoe UI" pitchFamily="34" charset="-122"/>
                <a:cs typeface="Segoe UI" pitchFamily="34" charset="-120"/>
              </a:rPr>
              <a:t>Presented by  </a:t>
            </a:r>
            <a:pPr indent="0" marL="0">
              <a:buNone/>
            </a:pPr>
            <a:r>
              <a:rPr lang="en-US" sz="1050" b="1" dirty="0">
                <a:solidFill>
                  <a:srgbClr val="9FAC93"/>
                </a:solidFill>
                <a:latin typeface="Segoe UI" pitchFamily="34" charset="0"/>
                <a:ea typeface="Segoe UI" pitchFamily="34" charset="-122"/>
                <a:cs typeface="Segoe UI" pitchFamily="34" charset="-120"/>
              </a:rPr>
              <a:t>Muhammad Adeel</a:t>
            </a:r>
            <a:pPr indent="0" marL="0">
              <a:buNone/>
            </a:pPr>
            <a:r>
              <a:rPr lang="en-US" sz="1050" dirty="0">
                <a:solidFill>
                  <a:srgbClr val="6F7D66"/>
                </a:solidFill>
                <a:latin typeface="Segoe UI" pitchFamily="34" charset="0"/>
                <a:ea typeface="Segoe UI" pitchFamily="34" charset="-122"/>
                <a:cs typeface="Segoe UI" pitchFamily="34" charset="-120"/>
              </a:rPr>
              <a:t>        Live  </a:t>
            </a:r>
            <a:pPr indent="0" marL="0">
              <a:buNone/>
            </a:pPr>
            <a:r>
              <a:rPr lang="en-US" sz="1050" b="1" dirty="0">
                <a:solidFill>
                  <a:srgbClr val="9FAC93"/>
                </a:solidFill>
                <a:latin typeface="Segoe UI" pitchFamily="34" charset="0"/>
                <a:ea typeface="Segoe UI" pitchFamily="34" charset="-122"/>
                <a:cs typeface="Segoe UI" pitchFamily="34" charset="-120"/>
              </a:rPr>
              <a:t>kissan-ai-six.vercel.app</a:t>
            </a:r>
            <a:endParaRPr lang="en-US" sz="1050" dirty="0"/>
          </a:p>
        </p:txBody>
      </p:sp>
      <p:pic>
        <p:nvPicPr>
          <p:cNvPr id="12" name="Image 0" descr="C:\Users\Muhammad Adeel\OneDrive\Documents\Default Project\kissan-ai\slides\img/01-landing.png">    </p:cNvPr>
          <p:cNvPicPr>
            <a:picLocks noChangeAspect="1"/>
          </p:cNvPicPr>
          <p:nvPr/>
        </p:nvPicPr>
        <p:blipFill>
          <a:blip r:embed="rId1"/>
          <a:srcRect l="0" r="0" t="0" b="0"/>
          <a:stretch/>
        </p:blipFill>
        <p:spPr>
          <a:xfrm>
            <a:off x="6858000" y="1298448"/>
            <a:ext cx="4754880" cy="4663440"/>
          </a:xfrm>
          <a:prstGeom prst="rect">
            <a:avLst/>
          </a:prstGeom>
        </p:spPr>
      </p:pic>
      <p:sp>
        <p:nvSpPr>
          <p:cNvPr id="13" name="Shape 10"/>
          <p:cNvSpPr/>
          <p:nvPr/>
        </p:nvSpPr>
        <p:spPr>
          <a:xfrm>
            <a:off x="6858000" y="1298448"/>
            <a:ext cx="4754880" cy="4663440"/>
          </a:xfrm>
          <a:prstGeom prst="rect">
            <a:avLst/>
          </a:prstGeom>
          <a:solidFill>
            <a:srgbClr val="11160F">
              <a:alpha val="0"/>
            </a:srgbClr>
          </a:solidFill>
          <a:ln w="12700">
            <a:solidFill>
              <a:srgbClr val="2A362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The problem</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2 / 14</a:t>
            </a:r>
            <a:endParaRPr lang="en-US" sz="850" dirty="0"/>
          </a:p>
        </p:txBody>
      </p:sp>
      <p:sp>
        <p:nvSpPr>
          <p:cNvPr id="7" name="Text 5"/>
          <p:cNvSpPr/>
          <p:nvPr/>
        </p:nvSpPr>
        <p:spPr>
          <a:xfrm>
            <a:off x="566928" y="987552"/>
            <a:ext cx="11055096" cy="1371600"/>
          </a:xfrm>
          <a:prstGeom prst="rect">
            <a:avLst/>
          </a:prstGeom>
          <a:noFill/>
          <a:ln/>
        </p:spPr>
        <p:txBody>
          <a:bodyPr wrap="square" rtlCol="0" anchor="t"/>
          <a:lstStyle/>
          <a:p>
            <a:pPr indent="0" marL="0">
              <a:lnSpc>
                <a:spcPts val="2990"/>
              </a:lnSpc>
              <a:buNone/>
            </a:pPr>
            <a:r>
              <a:rPr lang="en-US" sz="2600" b="1" dirty="0">
                <a:solidFill>
                  <a:srgbClr val="E9EFE1"/>
                </a:solidFill>
                <a:latin typeface="Segoe UI" pitchFamily="34" charset="0"/>
                <a:ea typeface="Segoe UI" pitchFamily="34" charset="-122"/>
                <a:cs typeface="Segoe UI" pitchFamily="34" charset="-120"/>
              </a:rPr>
              <a:t>A farmer makes dozens of decisions a season, with </a:t>
            </a:r>
            <a:pPr indent="0" marL="0">
              <a:lnSpc>
                <a:spcPts val="2990"/>
              </a:lnSpc>
              <a:buNone/>
            </a:pPr>
            <a:r>
              <a:rPr lang="en-US" sz="2600" b="1" dirty="0">
                <a:solidFill>
                  <a:srgbClr val="B4CD56"/>
                </a:solidFill>
                <a:latin typeface="Segoe UI" pitchFamily="34" charset="0"/>
                <a:ea typeface="Segoe UI" pitchFamily="34" charset="-122"/>
                <a:cs typeface="Segoe UI" pitchFamily="34" charset="-120"/>
              </a:rPr>
              <a:t>nobody to ask.</a:t>
            </a:r>
            <a:endParaRPr lang="en-US" sz="2600" dirty="0"/>
          </a:p>
        </p:txBody>
      </p:sp>
      <p:sp>
        <p:nvSpPr>
          <p:cNvPr id="8" name="Shape 6"/>
          <p:cNvSpPr/>
          <p:nvPr/>
        </p:nvSpPr>
        <p:spPr>
          <a:xfrm>
            <a:off x="566928" y="2057400"/>
            <a:ext cx="5408676" cy="1417320"/>
          </a:xfrm>
          <a:prstGeom prst="roundRect">
            <a:avLst>
              <a:gd name="adj" fmla="val 5806"/>
            </a:avLst>
          </a:prstGeom>
          <a:solidFill>
            <a:srgbClr val="151D12"/>
          </a:solidFill>
          <a:ln w="12700">
            <a:solidFill>
              <a:srgbClr val="26321F"/>
            </a:solidFill>
            <a:prstDash val="solid"/>
          </a:ln>
        </p:spPr>
      </p:sp>
      <p:sp>
        <p:nvSpPr>
          <p:cNvPr id="9" name="Text 7"/>
          <p:cNvSpPr/>
          <p:nvPr/>
        </p:nvSpPr>
        <p:spPr>
          <a:xfrm>
            <a:off x="749808" y="220370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Advice is scattered</a:t>
            </a:r>
            <a:endParaRPr lang="en-US" sz="1250" dirty="0"/>
          </a:p>
        </p:txBody>
      </p:sp>
      <p:sp>
        <p:nvSpPr>
          <p:cNvPr id="10" name="Text 8"/>
          <p:cNvSpPr/>
          <p:nvPr/>
        </p:nvSpPr>
        <p:spPr>
          <a:xfrm>
            <a:off x="749808" y="2551176"/>
            <a:ext cx="5042916" cy="85039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Pesticide shop, YouTube, neighbours, the extension officer who visits twice a year. Nobody agrees.</a:t>
            </a:r>
            <a:endParaRPr lang="en-US" sz="1000" dirty="0"/>
          </a:p>
        </p:txBody>
      </p:sp>
      <p:sp>
        <p:nvSpPr>
          <p:cNvPr id="11" name="Shape 9"/>
          <p:cNvSpPr/>
          <p:nvPr/>
        </p:nvSpPr>
        <p:spPr>
          <a:xfrm>
            <a:off x="6213348" y="2057400"/>
            <a:ext cx="5408676" cy="1417320"/>
          </a:xfrm>
          <a:prstGeom prst="roundRect">
            <a:avLst>
              <a:gd name="adj" fmla="val 5806"/>
            </a:avLst>
          </a:prstGeom>
          <a:solidFill>
            <a:srgbClr val="151D12"/>
          </a:solidFill>
          <a:ln w="12700">
            <a:solidFill>
              <a:srgbClr val="26321F"/>
            </a:solidFill>
            <a:prstDash val="solid"/>
          </a:ln>
        </p:spPr>
      </p:sp>
      <p:sp>
        <p:nvSpPr>
          <p:cNvPr id="12" name="Text 10"/>
          <p:cNvSpPr/>
          <p:nvPr/>
        </p:nvSpPr>
        <p:spPr>
          <a:xfrm>
            <a:off x="6396228" y="220370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Risk stays invisible</a:t>
            </a:r>
            <a:endParaRPr lang="en-US" sz="1250" dirty="0"/>
          </a:p>
        </p:txBody>
      </p:sp>
      <p:sp>
        <p:nvSpPr>
          <p:cNvPr id="13" name="Text 11"/>
          <p:cNvSpPr/>
          <p:nvPr/>
        </p:nvSpPr>
        <p:spPr>
          <a:xfrm>
            <a:off x="6396228" y="2551176"/>
            <a:ext cx="5042916" cy="85039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Heat, frost, untimely rain and disease pressure are only noticed after the damage is done.</a:t>
            </a:r>
            <a:endParaRPr lang="en-US" sz="1000" dirty="0"/>
          </a:p>
        </p:txBody>
      </p:sp>
      <p:sp>
        <p:nvSpPr>
          <p:cNvPr id="14" name="Shape 12"/>
          <p:cNvSpPr/>
          <p:nvPr/>
        </p:nvSpPr>
        <p:spPr>
          <a:xfrm>
            <a:off x="566928" y="3657600"/>
            <a:ext cx="5408676" cy="1417320"/>
          </a:xfrm>
          <a:prstGeom prst="roundRect">
            <a:avLst>
              <a:gd name="adj" fmla="val 5806"/>
            </a:avLst>
          </a:prstGeom>
          <a:solidFill>
            <a:srgbClr val="151D12"/>
          </a:solidFill>
          <a:ln w="12700">
            <a:solidFill>
              <a:srgbClr val="26321F"/>
            </a:solidFill>
            <a:prstDash val="solid"/>
          </a:ln>
        </p:spPr>
      </p:sp>
      <p:sp>
        <p:nvSpPr>
          <p:cNvPr id="15" name="Text 13"/>
          <p:cNvSpPr/>
          <p:nvPr/>
        </p:nvSpPr>
        <p:spPr>
          <a:xfrm>
            <a:off x="749808" y="380390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Diagnosis costs a trip</a:t>
            </a:r>
            <a:endParaRPr lang="en-US" sz="1250" dirty="0"/>
          </a:p>
        </p:txBody>
      </p:sp>
      <p:sp>
        <p:nvSpPr>
          <p:cNvPr id="16" name="Text 14"/>
          <p:cNvSpPr/>
          <p:nvPr/>
        </p:nvSpPr>
        <p:spPr>
          <a:xfrm>
            <a:off x="749808" y="4151376"/>
            <a:ext cx="5042916" cy="85039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A sick leaf means a photo, a journey and a wait — so most farmers guess, or over-spray.</a:t>
            </a:r>
            <a:endParaRPr lang="en-US" sz="1000" dirty="0"/>
          </a:p>
        </p:txBody>
      </p:sp>
      <p:sp>
        <p:nvSpPr>
          <p:cNvPr id="17" name="Shape 15"/>
          <p:cNvSpPr/>
          <p:nvPr/>
        </p:nvSpPr>
        <p:spPr>
          <a:xfrm>
            <a:off x="6213348" y="3657600"/>
            <a:ext cx="5408676" cy="1417320"/>
          </a:xfrm>
          <a:prstGeom prst="roundRect">
            <a:avLst>
              <a:gd name="adj" fmla="val 5806"/>
            </a:avLst>
          </a:prstGeom>
          <a:solidFill>
            <a:srgbClr val="151D12"/>
          </a:solidFill>
          <a:ln w="12700">
            <a:solidFill>
              <a:srgbClr val="26321F"/>
            </a:solidFill>
            <a:prstDash val="solid"/>
          </a:ln>
        </p:spPr>
      </p:sp>
      <p:sp>
        <p:nvSpPr>
          <p:cNvPr id="18" name="Text 16"/>
          <p:cNvSpPr/>
          <p:nvPr/>
        </p:nvSpPr>
        <p:spPr>
          <a:xfrm>
            <a:off x="6396228" y="380390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English-only tools exclude</a:t>
            </a:r>
            <a:endParaRPr lang="en-US" sz="1250" dirty="0"/>
          </a:p>
        </p:txBody>
      </p:sp>
      <p:sp>
        <p:nvSpPr>
          <p:cNvPr id="19" name="Text 17"/>
          <p:cNvSpPr/>
          <p:nvPr/>
        </p:nvSpPr>
        <p:spPr>
          <a:xfrm>
            <a:off x="6396228" y="4151376"/>
            <a:ext cx="5042916" cy="85039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The people who farm are least served by apps written for a different user in a different language.</a:t>
            </a:r>
            <a:endParaRPr lang="en-US" sz="1000" dirty="0"/>
          </a:p>
        </p:txBody>
      </p:sp>
      <p:sp>
        <p:nvSpPr>
          <p:cNvPr id="20" name="Text 18"/>
          <p:cNvSpPr/>
          <p:nvPr/>
        </p:nvSpPr>
        <p:spPr>
          <a:xfrm>
            <a:off x="566928" y="5440680"/>
            <a:ext cx="10872216" cy="548640"/>
          </a:xfrm>
          <a:prstGeom prst="rect">
            <a:avLst/>
          </a:prstGeom>
          <a:noFill/>
          <a:ln/>
        </p:spPr>
        <p:txBody>
          <a:bodyPr wrap="square" rtlCol="0" anchor="ctr"/>
          <a:lstStyle/>
          <a:p>
            <a:pPr indent="0" marL="0">
              <a:buNone/>
            </a:pPr>
            <a:r>
              <a:rPr lang="en-US" sz="1150" dirty="0">
                <a:solidFill>
                  <a:srgbClr val="9FAC93"/>
                </a:solidFill>
                <a:latin typeface="Segoe UI" pitchFamily="34" charset="0"/>
                <a:ea typeface="Segoe UI" pitchFamily="34" charset="-122"/>
                <a:cs typeface="Segoe UI" pitchFamily="34" charset="-120"/>
              </a:rPr>
              <a:t>The information exists. It just never reaches the farmer in a form they can use, in a language they read.</a:t>
            </a:r>
            <a:endParaRPr lang="en-US" sz="1150" dirty="0"/>
          </a:p>
        </p:txBody>
      </p:sp>
      <p:sp>
        <p:nvSpPr>
          <p:cNvPr id="21" name="Shape 19"/>
          <p:cNvSpPr/>
          <p:nvPr/>
        </p:nvSpPr>
        <p:spPr>
          <a:xfrm>
            <a:off x="566928" y="5440680"/>
            <a:ext cx="41148" cy="548640"/>
          </a:xfrm>
          <a:prstGeom prst="rect">
            <a:avLst/>
          </a:prstGeom>
          <a:solidFill>
            <a:srgbClr val="B4CD56"/>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The solution</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3 / 14</a:t>
            </a:r>
            <a:endParaRPr lang="en-US" sz="850" dirty="0"/>
          </a:p>
        </p:txBody>
      </p:sp>
      <p:sp>
        <p:nvSpPr>
          <p:cNvPr id="7" name="Text 5"/>
          <p:cNvSpPr/>
          <p:nvPr/>
        </p:nvSpPr>
        <p:spPr>
          <a:xfrm>
            <a:off x="566928" y="960120"/>
            <a:ext cx="11055096" cy="914400"/>
          </a:xfrm>
          <a:prstGeom prst="rect">
            <a:avLst/>
          </a:prstGeom>
          <a:noFill/>
          <a:ln/>
        </p:spPr>
        <p:txBody>
          <a:bodyPr wrap="square" rtlCol="0" anchor="t"/>
          <a:lstStyle/>
          <a:p>
            <a:pPr indent="0" marL="0">
              <a:lnSpc>
                <a:spcPts val="2990"/>
              </a:lnSpc>
              <a:buNone/>
            </a:pPr>
            <a:r>
              <a:rPr lang="en-US" sz="2600" b="1" dirty="0">
                <a:solidFill>
                  <a:srgbClr val="E9EFE1"/>
                </a:solidFill>
                <a:latin typeface="Segoe UI" pitchFamily="34" charset="0"/>
                <a:ea typeface="Segoe UI" pitchFamily="34" charset="-122"/>
                <a:cs typeface="Segoe UI" pitchFamily="34" charset="-120"/>
              </a:rPr>
              <a:t>One app. Ten jobs. </a:t>
            </a:r>
            <a:pPr indent="0" marL="0">
              <a:lnSpc>
                <a:spcPts val="2990"/>
              </a:lnSpc>
              <a:buNone/>
            </a:pPr>
            <a:r>
              <a:rPr lang="en-US" sz="2600" b="1" dirty="0">
                <a:solidFill>
                  <a:srgbClr val="B4CD56"/>
                </a:solidFill>
                <a:latin typeface="Segoe UI" pitchFamily="34" charset="0"/>
                <a:ea typeface="Segoe UI" pitchFamily="34" charset="-122"/>
                <a:cs typeface="Segoe UI" pitchFamily="34" charset="-120"/>
              </a:rPr>
              <a:t>Two languages that actually matter.</a:t>
            </a:r>
            <a:endParaRPr lang="en-US" sz="2600" dirty="0"/>
          </a:p>
        </p:txBody>
      </p:sp>
      <p:sp>
        <p:nvSpPr>
          <p:cNvPr id="8" name="Shape 6"/>
          <p:cNvSpPr/>
          <p:nvPr/>
        </p:nvSpPr>
        <p:spPr>
          <a:xfrm>
            <a:off x="566928" y="2084832"/>
            <a:ext cx="2108606" cy="896112"/>
          </a:xfrm>
          <a:prstGeom prst="roundRect">
            <a:avLst>
              <a:gd name="adj" fmla="val 8163"/>
            </a:avLst>
          </a:prstGeom>
          <a:solidFill>
            <a:srgbClr val="151D12"/>
          </a:solidFill>
          <a:ln w="12700">
            <a:solidFill>
              <a:srgbClr val="26321F"/>
            </a:solidFill>
            <a:prstDash val="solid"/>
          </a:ln>
        </p:spPr>
      </p:sp>
      <p:sp>
        <p:nvSpPr>
          <p:cNvPr id="9" name="Text 7"/>
          <p:cNvSpPr/>
          <p:nvPr/>
        </p:nvSpPr>
        <p:spPr>
          <a:xfrm>
            <a:off x="676656" y="2203704"/>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Crop Doctor</a:t>
            </a:r>
            <a:endParaRPr lang="en-US" sz="1050" dirty="0"/>
          </a:p>
        </p:txBody>
      </p:sp>
      <p:sp>
        <p:nvSpPr>
          <p:cNvPr id="10" name="Text 8"/>
          <p:cNvSpPr/>
          <p:nvPr/>
        </p:nvSpPr>
        <p:spPr>
          <a:xfrm>
            <a:off x="676656" y="2496312"/>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Photo → diagnosis</a:t>
            </a:r>
            <a:endParaRPr lang="en-US" sz="800" dirty="0"/>
          </a:p>
        </p:txBody>
      </p:sp>
      <p:sp>
        <p:nvSpPr>
          <p:cNvPr id="11" name="Shape 9"/>
          <p:cNvSpPr/>
          <p:nvPr/>
        </p:nvSpPr>
        <p:spPr>
          <a:xfrm>
            <a:off x="2803550" y="2084832"/>
            <a:ext cx="2108606" cy="896112"/>
          </a:xfrm>
          <a:prstGeom prst="roundRect">
            <a:avLst>
              <a:gd name="adj" fmla="val 8163"/>
            </a:avLst>
          </a:prstGeom>
          <a:solidFill>
            <a:srgbClr val="151D12"/>
          </a:solidFill>
          <a:ln w="12700">
            <a:solidFill>
              <a:srgbClr val="26321F"/>
            </a:solidFill>
            <a:prstDash val="solid"/>
          </a:ln>
        </p:spPr>
      </p:sp>
      <p:sp>
        <p:nvSpPr>
          <p:cNvPr id="12" name="Text 10"/>
          <p:cNvSpPr/>
          <p:nvPr/>
        </p:nvSpPr>
        <p:spPr>
          <a:xfrm>
            <a:off x="2913278" y="2203704"/>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AI Assistant</a:t>
            </a:r>
            <a:endParaRPr lang="en-US" sz="1050" dirty="0"/>
          </a:p>
        </p:txBody>
      </p:sp>
      <p:sp>
        <p:nvSpPr>
          <p:cNvPr id="13" name="Text 11"/>
          <p:cNvSpPr/>
          <p:nvPr/>
        </p:nvSpPr>
        <p:spPr>
          <a:xfrm>
            <a:off x="2913278" y="2496312"/>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Chat + voice</a:t>
            </a:r>
            <a:endParaRPr lang="en-US" sz="800" dirty="0"/>
          </a:p>
        </p:txBody>
      </p:sp>
      <p:sp>
        <p:nvSpPr>
          <p:cNvPr id="14" name="Shape 12"/>
          <p:cNvSpPr/>
          <p:nvPr/>
        </p:nvSpPr>
        <p:spPr>
          <a:xfrm>
            <a:off x="5040173" y="2084832"/>
            <a:ext cx="2108606" cy="896112"/>
          </a:xfrm>
          <a:prstGeom prst="roundRect">
            <a:avLst>
              <a:gd name="adj" fmla="val 8163"/>
            </a:avLst>
          </a:prstGeom>
          <a:solidFill>
            <a:srgbClr val="151D12"/>
          </a:solidFill>
          <a:ln w="12700">
            <a:solidFill>
              <a:srgbClr val="26321F"/>
            </a:solidFill>
            <a:prstDash val="solid"/>
          </a:ln>
        </p:spPr>
      </p:sp>
      <p:sp>
        <p:nvSpPr>
          <p:cNvPr id="15" name="Text 13"/>
          <p:cNvSpPr/>
          <p:nvPr/>
        </p:nvSpPr>
        <p:spPr>
          <a:xfrm>
            <a:off x="5149901" y="2203704"/>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Weather</a:t>
            </a:r>
            <a:endParaRPr lang="en-US" sz="1050" dirty="0"/>
          </a:p>
        </p:txBody>
      </p:sp>
      <p:sp>
        <p:nvSpPr>
          <p:cNvPr id="16" name="Text 14"/>
          <p:cNvSpPr/>
          <p:nvPr/>
        </p:nvSpPr>
        <p:spPr>
          <a:xfrm>
            <a:off x="5149901" y="2496312"/>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7-day + impact</a:t>
            </a:r>
            <a:endParaRPr lang="en-US" sz="800" dirty="0"/>
          </a:p>
        </p:txBody>
      </p:sp>
      <p:sp>
        <p:nvSpPr>
          <p:cNvPr id="17" name="Shape 15"/>
          <p:cNvSpPr/>
          <p:nvPr/>
        </p:nvSpPr>
        <p:spPr>
          <a:xfrm>
            <a:off x="7276795" y="2084832"/>
            <a:ext cx="2108606" cy="896112"/>
          </a:xfrm>
          <a:prstGeom prst="roundRect">
            <a:avLst>
              <a:gd name="adj" fmla="val 8163"/>
            </a:avLst>
          </a:prstGeom>
          <a:solidFill>
            <a:srgbClr val="151D12"/>
          </a:solidFill>
          <a:ln w="12700">
            <a:solidFill>
              <a:srgbClr val="26321F"/>
            </a:solidFill>
            <a:prstDash val="solid"/>
          </a:ln>
        </p:spPr>
      </p:sp>
      <p:sp>
        <p:nvSpPr>
          <p:cNvPr id="18" name="Text 16"/>
          <p:cNvSpPr/>
          <p:nvPr/>
        </p:nvSpPr>
        <p:spPr>
          <a:xfrm>
            <a:off x="7386523" y="2203704"/>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Irrigation</a:t>
            </a:r>
            <a:endParaRPr lang="en-US" sz="1050" dirty="0"/>
          </a:p>
        </p:txBody>
      </p:sp>
      <p:sp>
        <p:nvSpPr>
          <p:cNvPr id="19" name="Text 17"/>
          <p:cNvSpPr/>
          <p:nvPr/>
        </p:nvSpPr>
        <p:spPr>
          <a:xfrm>
            <a:off x="7386523" y="2496312"/>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When and how much</a:t>
            </a:r>
            <a:endParaRPr lang="en-US" sz="800" dirty="0"/>
          </a:p>
        </p:txBody>
      </p:sp>
      <p:sp>
        <p:nvSpPr>
          <p:cNvPr id="20" name="Shape 18"/>
          <p:cNvSpPr/>
          <p:nvPr/>
        </p:nvSpPr>
        <p:spPr>
          <a:xfrm>
            <a:off x="9513418" y="2084832"/>
            <a:ext cx="2108606" cy="896112"/>
          </a:xfrm>
          <a:prstGeom prst="roundRect">
            <a:avLst>
              <a:gd name="adj" fmla="val 8163"/>
            </a:avLst>
          </a:prstGeom>
          <a:solidFill>
            <a:srgbClr val="151D12"/>
          </a:solidFill>
          <a:ln w="12700">
            <a:solidFill>
              <a:srgbClr val="26321F"/>
            </a:solidFill>
            <a:prstDash val="solid"/>
          </a:ln>
        </p:spPr>
      </p:sp>
      <p:sp>
        <p:nvSpPr>
          <p:cNvPr id="21" name="Text 19"/>
          <p:cNvSpPr/>
          <p:nvPr/>
        </p:nvSpPr>
        <p:spPr>
          <a:xfrm>
            <a:off x="9623146" y="2203704"/>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Risk alerts</a:t>
            </a:r>
            <a:endParaRPr lang="en-US" sz="1050" dirty="0"/>
          </a:p>
        </p:txBody>
      </p:sp>
      <p:sp>
        <p:nvSpPr>
          <p:cNvPr id="22" name="Text 20"/>
          <p:cNvSpPr/>
          <p:nvPr/>
        </p:nvSpPr>
        <p:spPr>
          <a:xfrm>
            <a:off x="9623146" y="2496312"/>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Before the damage</a:t>
            </a:r>
            <a:endParaRPr lang="en-US" sz="800" dirty="0"/>
          </a:p>
        </p:txBody>
      </p:sp>
      <p:sp>
        <p:nvSpPr>
          <p:cNvPr id="23" name="Shape 21"/>
          <p:cNvSpPr/>
          <p:nvPr/>
        </p:nvSpPr>
        <p:spPr>
          <a:xfrm>
            <a:off x="566928" y="3108960"/>
            <a:ext cx="2108606" cy="896112"/>
          </a:xfrm>
          <a:prstGeom prst="roundRect">
            <a:avLst>
              <a:gd name="adj" fmla="val 8163"/>
            </a:avLst>
          </a:prstGeom>
          <a:solidFill>
            <a:srgbClr val="151D12"/>
          </a:solidFill>
          <a:ln w="12700">
            <a:solidFill>
              <a:srgbClr val="26321F"/>
            </a:solidFill>
            <a:prstDash val="solid"/>
          </a:ln>
        </p:spPr>
      </p:sp>
      <p:sp>
        <p:nvSpPr>
          <p:cNvPr id="24" name="Text 22"/>
          <p:cNvSpPr/>
          <p:nvPr/>
        </p:nvSpPr>
        <p:spPr>
          <a:xfrm>
            <a:off x="676656" y="3227832"/>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Today's actions</a:t>
            </a:r>
            <a:endParaRPr lang="en-US" sz="1050" dirty="0"/>
          </a:p>
        </p:txBody>
      </p:sp>
      <p:sp>
        <p:nvSpPr>
          <p:cNvPr id="25" name="Text 23"/>
          <p:cNvSpPr/>
          <p:nvPr/>
        </p:nvSpPr>
        <p:spPr>
          <a:xfrm>
            <a:off x="676656" y="3520440"/>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Prioritised list</a:t>
            </a:r>
            <a:endParaRPr lang="en-US" sz="800" dirty="0"/>
          </a:p>
        </p:txBody>
      </p:sp>
      <p:sp>
        <p:nvSpPr>
          <p:cNvPr id="26" name="Shape 24"/>
          <p:cNvSpPr/>
          <p:nvPr/>
        </p:nvSpPr>
        <p:spPr>
          <a:xfrm>
            <a:off x="2803550" y="3108960"/>
            <a:ext cx="2108606" cy="896112"/>
          </a:xfrm>
          <a:prstGeom prst="roundRect">
            <a:avLst>
              <a:gd name="adj" fmla="val 8163"/>
            </a:avLst>
          </a:prstGeom>
          <a:solidFill>
            <a:srgbClr val="151D12"/>
          </a:solidFill>
          <a:ln w="12700">
            <a:solidFill>
              <a:srgbClr val="26321F"/>
            </a:solidFill>
            <a:prstDash val="solid"/>
          </a:ln>
        </p:spPr>
      </p:sp>
      <p:sp>
        <p:nvSpPr>
          <p:cNvPr id="27" name="Text 25"/>
          <p:cNvSpPr/>
          <p:nvPr/>
        </p:nvSpPr>
        <p:spPr>
          <a:xfrm>
            <a:off x="2913278" y="3227832"/>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Yield</a:t>
            </a:r>
            <a:endParaRPr lang="en-US" sz="1050" dirty="0"/>
          </a:p>
        </p:txBody>
      </p:sp>
      <p:sp>
        <p:nvSpPr>
          <p:cNvPr id="28" name="Text 26"/>
          <p:cNvSpPr/>
          <p:nvPr/>
        </p:nvSpPr>
        <p:spPr>
          <a:xfrm>
            <a:off x="2913278" y="3520440"/>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Estimate + factors</a:t>
            </a:r>
            <a:endParaRPr lang="en-US" sz="800" dirty="0"/>
          </a:p>
        </p:txBody>
      </p:sp>
      <p:sp>
        <p:nvSpPr>
          <p:cNvPr id="29" name="Shape 27"/>
          <p:cNvSpPr/>
          <p:nvPr/>
        </p:nvSpPr>
        <p:spPr>
          <a:xfrm>
            <a:off x="5040173" y="3108960"/>
            <a:ext cx="2108606" cy="896112"/>
          </a:xfrm>
          <a:prstGeom prst="roundRect">
            <a:avLst>
              <a:gd name="adj" fmla="val 8163"/>
            </a:avLst>
          </a:prstGeom>
          <a:solidFill>
            <a:srgbClr val="151D12"/>
          </a:solidFill>
          <a:ln w="12700">
            <a:solidFill>
              <a:srgbClr val="26321F"/>
            </a:solidFill>
            <a:prstDash val="solid"/>
          </a:ln>
        </p:spPr>
      </p:sp>
      <p:sp>
        <p:nvSpPr>
          <p:cNvPr id="30" name="Text 28"/>
          <p:cNvSpPr/>
          <p:nvPr/>
        </p:nvSpPr>
        <p:spPr>
          <a:xfrm>
            <a:off x="5149901" y="3227832"/>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Crop calendar</a:t>
            </a:r>
            <a:endParaRPr lang="en-US" sz="1050" dirty="0"/>
          </a:p>
        </p:txBody>
      </p:sp>
      <p:sp>
        <p:nvSpPr>
          <p:cNvPr id="31" name="Text 29"/>
          <p:cNvSpPr/>
          <p:nvPr/>
        </p:nvSpPr>
        <p:spPr>
          <a:xfrm>
            <a:off x="5149901" y="3520440"/>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Sow → harvest</a:t>
            </a:r>
            <a:endParaRPr lang="en-US" sz="800" dirty="0"/>
          </a:p>
        </p:txBody>
      </p:sp>
      <p:sp>
        <p:nvSpPr>
          <p:cNvPr id="32" name="Shape 30"/>
          <p:cNvSpPr/>
          <p:nvPr/>
        </p:nvSpPr>
        <p:spPr>
          <a:xfrm>
            <a:off x="7276795" y="3108960"/>
            <a:ext cx="2108606" cy="896112"/>
          </a:xfrm>
          <a:prstGeom prst="roundRect">
            <a:avLst>
              <a:gd name="adj" fmla="val 8163"/>
            </a:avLst>
          </a:prstGeom>
          <a:solidFill>
            <a:srgbClr val="151D12"/>
          </a:solidFill>
          <a:ln w="12700">
            <a:solidFill>
              <a:srgbClr val="26321F"/>
            </a:solidFill>
            <a:prstDash val="solid"/>
          </a:ln>
        </p:spPr>
      </p:sp>
      <p:sp>
        <p:nvSpPr>
          <p:cNvPr id="33" name="Text 31"/>
          <p:cNvSpPr/>
          <p:nvPr/>
        </p:nvSpPr>
        <p:spPr>
          <a:xfrm>
            <a:off x="7386523" y="3227832"/>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Expenses</a:t>
            </a:r>
            <a:endParaRPr lang="en-US" sz="1050" dirty="0"/>
          </a:p>
        </p:txBody>
      </p:sp>
      <p:sp>
        <p:nvSpPr>
          <p:cNvPr id="34" name="Text 32"/>
          <p:cNvSpPr/>
          <p:nvPr/>
        </p:nvSpPr>
        <p:spPr>
          <a:xfrm>
            <a:off x="7386523" y="3520440"/>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Cost per season</a:t>
            </a:r>
            <a:endParaRPr lang="en-US" sz="800" dirty="0"/>
          </a:p>
        </p:txBody>
      </p:sp>
      <p:sp>
        <p:nvSpPr>
          <p:cNvPr id="35" name="Shape 33"/>
          <p:cNvSpPr/>
          <p:nvPr/>
        </p:nvSpPr>
        <p:spPr>
          <a:xfrm>
            <a:off x="9513418" y="3108960"/>
            <a:ext cx="2108606" cy="896112"/>
          </a:xfrm>
          <a:prstGeom prst="roundRect">
            <a:avLst>
              <a:gd name="adj" fmla="val 8163"/>
            </a:avLst>
          </a:prstGeom>
          <a:solidFill>
            <a:srgbClr val="151D12"/>
          </a:solidFill>
          <a:ln w="12700">
            <a:solidFill>
              <a:srgbClr val="26321F"/>
            </a:solidFill>
            <a:prstDash val="solid"/>
          </a:ln>
        </p:spPr>
      </p:sp>
      <p:sp>
        <p:nvSpPr>
          <p:cNvPr id="36" name="Text 34"/>
          <p:cNvSpPr/>
          <p:nvPr/>
        </p:nvSpPr>
        <p:spPr>
          <a:xfrm>
            <a:off x="9623146" y="3227832"/>
            <a:ext cx="1889150" cy="274320"/>
          </a:xfrm>
          <a:prstGeom prst="rect">
            <a:avLst/>
          </a:prstGeom>
          <a:noFill/>
          <a:ln/>
        </p:spPr>
        <p:txBody>
          <a:bodyPr wrap="square" rtlCol="0" anchor="ctr"/>
          <a:lstStyle/>
          <a:p>
            <a:pPr indent="0" marL="0">
              <a:buNone/>
            </a:pPr>
            <a:r>
              <a:rPr lang="en-US" sz="1050" b="1" dirty="0">
                <a:solidFill>
                  <a:srgbClr val="E9EFE1"/>
                </a:solidFill>
                <a:latin typeface="Segoe UI" pitchFamily="34" charset="0"/>
                <a:ea typeface="Segoe UI" pitchFamily="34" charset="-122"/>
                <a:cs typeface="Segoe UI" pitchFamily="34" charset="-120"/>
              </a:rPr>
              <a:t>Farm profile</a:t>
            </a:r>
            <a:endParaRPr lang="en-US" sz="1050" dirty="0"/>
          </a:p>
        </p:txBody>
      </p:sp>
      <p:sp>
        <p:nvSpPr>
          <p:cNvPr id="37" name="Text 35"/>
          <p:cNvSpPr/>
          <p:nvPr/>
        </p:nvSpPr>
        <p:spPr>
          <a:xfrm>
            <a:off x="9623146" y="3520440"/>
            <a:ext cx="1889150" cy="292608"/>
          </a:xfrm>
          <a:prstGeom prst="rect">
            <a:avLst/>
          </a:prstGeom>
          <a:noFill/>
          <a:ln/>
        </p:spPr>
        <p:txBody>
          <a:bodyPr wrap="square" rtlCol="0" anchor="ctr"/>
          <a:lstStyle/>
          <a:p>
            <a:pPr indent="0" marL="0">
              <a:buNone/>
            </a:pPr>
            <a:r>
              <a:rPr lang="en-US" sz="800" dirty="0">
                <a:solidFill>
                  <a:srgbClr val="9FAC93"/>
                </a:solidFill>
                <a:latin typeface="Segoe UI" pitchFamily="34" charset="0"/>
                <a:ea typeface="Segoe UI" pitchFamily="34" charset="-122"/>
                <a:cs typeface="Segoe UI" pitchFamily="34" charset="-120"/>
              </a:rPr>
              <a:t>Soil, water, crop</a:t>
            </a:r>
            <a:endParaRPr lang="en-US" sz="800" dirty="0"/>
          </a:p>
        </p:txBody>
      </p:sp>
      <p:sp>
        <p:nvSpPr>
          <p:cNvPr id="38" name="Shape 36"/>
          <p:cNvSpPr/>
          <p:nvPr/>
        </p:nvSpPr>
        <p:spPr>
          <a:xfrm>
            <a:off x="566928" y="4434840"/>
            <a:ext cx="2619756" cy="1051560"/>
          </a:xfrm>
          <a:prstGeom prst="roundRect">
            <a:avLst>
              <a:gd name="adj" fmla="val 7826"/>
            </a:avLst>
          </a:prstGeom>
          <a:solidFill>
            <a:srgbClr val="151D12"/>
          </a:solidFill>
          <a:ln w="12700">
            <a:solidFill>
              <a:srgbClr val="26321F"/>
            </a:solidFill>
            <a:prstDash val="solid"/>
          </a:ln>
        </p:spPr>
      </p:sp>
      <p:sp>
        <p:nvSpPr>
          <p:cNvPr id="39" name="Text 37"/>
          <p:cNvSpPr/>
          <p:nvPr/>
        </p:nvSpPr>
        <p:spPr>
          <a:xfrm>
            <a:off x="731520" y="456285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25+</a:t>
            </a:r>
            <a:endParaRPr lang="en-US" sz="2100" dirty="0"/>
          </a:p>
        </p:txBody>
      </p:sp>
      <p:sp>
        <p:nvSpPr>
          <p:cNvPr id="40" name="Text 38"/>
          <p:cNvSpPr/>
          <p:nvPr/>
        </p:nvSpPr>
        <p:spPr>
          <a:xfrm>
            <a:off x="731520" y="5038344"/>
            <a:ext cx="2290572" cy="35661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crops recognised</a:t>
            </a:r>
            <a:endParaRPr lang="en-US" sz="900" dirty="0"/>
          </a:p>
        </p:txBody>
      </p:sp>
      <p:sp>
        <p:nvSpPr>
          <p:cNvPr id="41" name="Shape 39"/>
          <p:cNvSpPr/>
          <p:nvPr/>
        </p:nvSpPr>
        <p:spPr>
          <a:xfrm>
            <a:off x="3378708" y="4434840"/>
            <a:ext cx="2619756" cy="1051560"/>
          </a:xfrm>
          <a:prstGeom prst="roundRect">
            <a:avLst>
              <a:gd name="adj" fmla="val 7826"/>
            </a:avLst>
          </a:prstGeom>
          <a:solidFill>
            <a:srgbClr val="151D12"/>
          </a:solidFill>
          <a:ln w="12700">
            <a:solidFill>
              <a:srgbClr val="26321F"/>
            </a:solidFill>
            <a:prstDash val="solid"/>
          </a:ln>
        </p:spPr>
      </p:sp>
      <p:sp>
        <p:nvSpPr>
          <p:cNvPr id="42" name="Text 40"/>
          <p:cNvSpPr/>
          <p:nvPr/>
        </p:nvSpPr>
        <p:spPr>
          <a:xfrm>
            <a:off x="3543300" y="456285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2</a:t>
            </a:r>
            <a:endParaRPr lang="en-US" sz="2100" dirty="0"/>
          </a:p>
        </p:txBody>
      </p:sp>
      <p:sp>
        <p:nvSpPr>
          <p:cNvPr id="43" name="Text 41"/>
          <p:cNvSpPr/>
          <p:nvPr/>
        </p:nvSpPr>
        <p:spPr>
          <a:xfrm>
            <a:off x="3543300" y="5038344"/>
            <a:ext cx="2290572" cy="35661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UI languages, full RTL</a:t>
            </a:r>
            <a:endParaRPr lang="en-US" sz="900" dirty="0"/>
          </a:p>
        </p:txBody>
      </p:sp>
      <p:sp>
        <p:nvSpPr>
          <p:cNvPr id="44" name="Shape 42"/>
          <p:cNvSpPr/>
          <p:nvPr/>
        </p:nvSpPr>
        <p:spPr>
          <a:xfrm>
            <a:off x="6190488" y="4434840"/>
            <a:ext cx="2619756" cy="1051560"/>
          </a:xfrm>
          <a:prstGeom prst="roundRect">
            <a:avLst>
              <a:gd name="adj" fmla="val 7826"/>
            </a:avLst>
          </a:prstGeom>
          <a:solidFill>
            <a:srgbClr val="151D12"/>
          </a:solidFill>
          <a:ln w="12700">
            <a:solidFill>
              <a:srgbClr val="26321F"/>
            </a:solidFill>
            <a:prstDash val="solid"/>
          </a:ln>
        </p:spPr>
      </p:sp>
      <p:sp>
        <p:nvSpPr>
          <p:cNvPr id="45" name="Text 43"/>
          <p:cNvSpPr/>
          <p:nvPr/>
        </p:nvSpPr>
        <p:spPr>
          <a:xfrm>
            <a:off x="6355080" y="456285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10</a:t>
            </a:r>
            <a:endParaRPr lang="en-US" sz="2100" dirty="0"/>
          </a:p>
        </p:txBody>
      </p:sp>
      <p:sp>
        <p:nvSpPr>
          <p:cNvPr id="46" name="Text 44"/>
          <p:cNvSpPr/>
          <p:nvPr/>
        </p:nvSpPr>
        <p:spPr>
          <a:xfrm>
            <a:off x="6355080" y="5038344"/>
            <a:ext cx="2290572" cy="35661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serverless AI functions</a:t>
            </a:r>
            <a:endParaRPr lang="en-US" sz="900" dirty="0"/>
          </a:p>
        </p:txBody>
      </p:sp>
      <p:sp>
        <p:nvSpPr>
          <p:cNvPr id="47" name="Shape 45"/>
          <p:cNvSpPr/>
          <p:nvPr/>
        </p:nvSpPr>
        <p:spPr>
          <a:xfrm>
            <a:off x="9002268" y="4434840"/>
            <a:ext cx="2619756" cy="1051560"/>
          </a:xfrm>
          <a:prstGeom prst="roundRect">
            <a:avLst>
              <a:gd name="adj" fmla="val 7826"/>
            </a:avLst>
          </a:prstGeom>
          <a:solidFill>
            <a:srgbClr val="151D12"/>
          </a:solidFill>
          <a:ln w="12700">
            <a:solidFill>
              <a:srgbClr val="26321F"/>
            </a:solidFill>
            <a:prstDash val="solid"/>
          </a:ln>
        </p:spPr>
      </p:sp>
      <p:sp>
        <p:nvSpPr>
          <p:cNvPr id="48" name="Text 46"/>
          <p:cNvSpPr/>
          <p:nvPr/>
        </p:nvSpPr>
        <p:spPr>
          <a:xfrm>
            <a:off x="9166860" y="456285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0</a:t>
            </a:r>
            <a:endParaRPr lang="en-US" sz="2100" dirty="0"/>
          </a:p>
        </p:txBody>
      </p:sp>
      <p:sp>
        <p:nvSpPr>
          <p:cNvPr id="49" name="Text 47"/>
          <p:cNvSpPr/>
          <p:nvPr/>
        </p:nvSpPr>
        <p:spPr>
          <a:xfrm>
            <a:off x="9166860" y="5038344"/>
            <a:ext cx="2290572" cy="35661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API keys in the browser</a:t>
            </a:r>
            <a:endParaRPr lang="en-US" sz="900" dirty="0"/>
          </a:p>
        </p:txBody>
      </p:sp>
      <p:sp>
        <p:nvSpPr>
          <p:cNvPr id="50" name="Text 48"/>
          <p:cNvSpPr/>
          <p:nvPr/>
        </p:nvSpPr>
        <p:spPr>
          <a:xfrm>
            <a:off x="566928" y="5806440"/>
            <a:ext cx="11055096" cy="365760"/>
          </a:xfrm>
          <a:prstGeom prst="rect">
            <a:avLst/>
          </a:prstGeom>
          <a:noFill/>
          <a:ln/>
        </p:spPr>
        <p:txBody>
          <a:bodyPr wrap="square" rtlCol="0" anchor="ctr"/>
          <a:lstStyle/>
          <a:p>
            <a:pPr algn="ctr" indent="0" marL="0">
              <a:buNone/>
            </a:pPr>
            <a:r>
              <a:rPr lang="en-US" sz="1100" dirty="0">
                <a:solidFill>
                  <a:srgbClr val="6F7D66"/>
                </a:solidFill>
                <a:latin typeface="Segoe UI" pitchFamily="34" charset="0"/>
                <a:ea typeface="Segoe UI" pitchFamily="34" charset="-122"/>
                <a:cs typeface="Segoe UI" pitchFamily="34" charset="-120"/>
              </a:rPr>
              <a:t>Built for a phone, in the field, on a weak connection.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1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4 / 14</a:t>
            </a:r>
            <a:endParaRPr lang="en-US" sz="850" dirty="0"/>
          </a:p>
        </p:txBody>
      </p:sp>
      <p:sp>
        <p:nvSpPr>
          <p:cNvPr id="7" name="Shape 5"/>
          <p:cNvSpPr/>
          <p:nvPr/>
        </p:nvSpPr>
        <p:spPr>
          <a:xfrm>
            <a:off x="6135624"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6318504"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Dashboard</a:t>
            </a:r>
            <a:endParaRPr lang="en-US" sz="1200" dirty="0"/>
          </a:p>
        </p:txBody>
      </p:sp>
      <p:sp>
        <p:nvSpPr>
          <p:cNvPr id="9" name="Text 7"/>
          <p:cNvSpPr/>
          <p:nvPr/>
        </p:nvSpPr>
        <p:spPr>
          <a:xfrm>
            <a:off x="6318504"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slides/img/02-dashboard.png</a:t>
            </a:r>
            <a:endParaRPr lang="en-US" sz="850" dirty="0"/>
          </a:p>
        </p:txBody>
      </p:sp>
      <p:sp>
        <p:nvSpPr>
          <p:cNvPr id="10" name="Text 8"/>
          <p:cNvSpPr/>
          <p:nvPr/>
        </p:nvSpPr>
        <p:spPr>
          <a:xfrm>
            <a:off x="5669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The whole farm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on one screen.</a:t>
            </a:r>
            <a:endParaRPr lang="en-US" sz="2400" dirty="0"/>
          </a:p>
        </p:txBody>
      </p:sp>
      <p:sp>
        <p:nvSpPr>
          <p:cNvPr id="11" name="Text 9"/>
          <p:cNvSpPr/>
          <p:nvPr/>
        </p:nvSpPr>
        <p:spPr>
          <a:xfrm>
            <a:off x="5669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Today's weather and the 7-day outlook — in one glance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Crop stage, farm health and active risks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Irrigation due, recent diagnoses, tasks for today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Everything the AI needs, already on the page
</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2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5 / 14</a:t>
            </a:r>
            <a:endParaRPr lang="en-US" sz="850" dirty="0"/>
          </a:p>
        </p:txBody>
      </p:sp>
      <p:sp>
        <p:nvSpPr>
          <p:cNvPr id="7" name="Shape 5"/>
          <p:cNvSpPr/>
          <p:nvPr/>
        </p:nvSpPr>
        <p:spPr>
          <a:xfrm>
            <a:off x="566928"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749808"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Crop Doctor result (capture in Urdu)</a:t>
            </a:r>
            <a:endParaRPr lang="en-US" sz="1200" dirty="0"/>
          </a:p>
        </p:txBody>
      </p:sp>
      <p:sp>
        <p:nvSpPr>
          <p:cNvPr id="9" name="Text 7"/>
          <p:cNvSpPr/>
          <p:nvPr/>
        </p:nvSpPr>
        <p:spPr>
          <a:xfrm>
            <a:off x="749808"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slides/img/03-crop-doctor.png</a:t>
            </a:r>
            <a:endParaRPr lang="en-US" sz="850" dirty="0"/>
          </a:p>
        </p:txBody>
      </p:sp>
      <p:sp>
        <p:nvSpPr>
          <p:cNvPr id="10" name="Text 8"/>
          <p:cNvSpPr/>
          <p:nvPr/>
        </p:nvSpPr>
        <p:spPr>
          <a:xfrm>
            <a:off x="65105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Photo in. Diagnosis out —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in Urdu.</a:t>
            </a:r>
            <a:endParaRPr lang="en-US" sz="2400" dirty="0"/>
          </a:p>
        </p:txBody>
      </p:sp>
      <p:sp>
        <p:nvSpPr>
          <p:cNvPr id="11" name="Text 9"/>
          <p:cNvSpPr/>
          <p:nvPr/>
        </p:nvSpPr>
        <p:spPr>
          <a:xfrm>
            <a:off x="65105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Camera or gallery → compressed upload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Vision model returns severity, confidence, causes, actions, caveats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Saved to history so the farm remembers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Language checked server-side, not left to the model's mood
</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3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6 / 14</a:t>
            </a:r>
            <a:endParaRPr lang="en-US" sz="850" dirty="0"/>
          </a:p>
        </p:txBody>
      </p:sp>
      <p:sp>
        <p:nvSpPr>
          <p:cNvPr id="7" name="Shape 5"/>
          <p:cNvSpPr/>
          <p:nvPr/>
        </p:nvSpPr>
        <p:spPr>
          <a:xfrm>
            <a:off x="6135624"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6318504"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AI Assistant</a:t>
            </a:r>
            <a:endParaRPr lang="en-US" sz="1200" dirty="0"/>
          </a:p>
        </p:txBody>
      </p:sp>
      <p:sp>
        <p:nvSpPr>
          <p:cNvPr id="9" name="Text 7"/>
          <p:cNvSpPr/>
          <p:nvPr/>
        </p:nvSpPr>
        <p:spPr>
          <a:xfrm>
            <a:off x="6318504"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slides/img/04-assistant.png</a:t>
            </a:r>
            <a:endParaRPr lang="en-US" sz="850" dirty="0"/>
          </a:p>
        </p:txBody>
      </p:sp>
      <p:sp>
        <p:nvSpPr>
          <p:cNvPr id="10" name="Text 8"/>
          <p:cNvSpPr/>
          <p:nvPr/>
        </p:nvSpPr>
        <p:spPr>
          <a:xfrm>
            <a:off x="5669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Ask it the way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you'd ask a neighbour.</a:t>
            </a:r>
            <a:endParaRPr lang="en-US" sz="2400" dirty="0"/>
          </a:p>
        </p:txBody>
      </p:sp>
      <p:sp>
        <p:nvSpPr>
          <p:cNvPr id="11" name="Text 9"/>
          <p:cNvSpPr/>
          <p:nvPr/>
        </p:nvSpPr>
        <p:spPr>
          <a:xfrm>
            <a:off x="5669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Answers grounded in this farm: crop, stage, soil, water, weather, risks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Type or hold the mic — speech in, speech out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Reply is read aloud, including key points and next steps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'What should I do today?' works in Urdu and English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4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7 / 14</a:t>
            </a:r>
            <a:endParaRPr lang="en-US" sz="850" dirty="0"/>
          </a:p>
        </p:txBody>
      </p:sp>
      <p:sp>
        <p:nvSpPr>
          <p:cNvPr id="7" name="Shape 5"/>
          <p:cNvSpPr/>
          <p:nvPr/>
        </p:nvSpPr>
        <p:spPr>
          <a:xfrm>
            <a:off x="566928"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749808"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Weather / Irrigation</a:t>
            </a:r>
            <a:endParaRPr lang="en-US" sz="1200" dirty="0"/>
          </a:p>
        </p:txBody>
      </p:sp>
      <p:sp>
        <p:nvSpPr>
          <p:cNvPr id="9" name="Text 7"/>
          <p:cNvSpPr/>
          <p:nvPr/>
        </p:nvSpPr>
        <p:spPr>
          <a:xfrm>
            <a:off x="749808"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slides/img/05-weather.png</a:t>
            </a:r>
            <a:endParaRPr lang="en-US" sz="850" dirty="0"/>
          </a:p>
        </p:txBody>
      </p:sp>
      <p:sp>
        <p:nvSpPr>
          <p:cNvPr id="10" name="Text 8"/>
          <p:cNvSpPr/>
          <p:nvPr/>
        </p:nvSpPr>
        <p:spPr>
          <a:xfrm>
            <a:off x="65105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Irrigate on evidence,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not on habit.</a:t>
            </a:r>
            <a:endParaRPr lang="en-US" sz="2400" dirty="0"/>
          </a:p>
        </p:txBody>
      </p:sp>
      <p:sp>
        <p:nvSpPr>
          <p:cNvPr id="11" name="Text 9"/>
          <p:cNvSpPr/>
          <p:nvPr/>
        </p:nvSpPr>
        <p:spPr>
          <a:xfrm>
            <a:off x="65105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Forecast from Open-Meteo — no key, no billing, no lock-in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Weather translated into farming impact, not just degrees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Irrigation advice uses soil type, method, crop stage and recent rain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Every recommendation says why, so it can be trusted
</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5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8 / 14</a:t>
            </a:r>
            <a:endParaRPr lang="en-US" sz="850" dirty="0"/>
          </a:p>
        </p:txBody>
      </p:sp>
      <p:sp>
        <p:nvSpPr>
          <p:cNvPr id="7" name="Shape 5"/>
          <p:cNvSpPr/>
          <p:nvPr/>
        </p:nvSpPr>
        <p:spPr>
          <a:xfrm>
            <a:off x="6135624"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6318504"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Risks / Today's Actions</a:t>
            </a:r>
            <a:endParaRPr lang="en-US" sz="1200" dirty="0"/>
          </a:p>
        </p:txBody>
      </p:sp>
      <p:sp>
        <p:nvSpPr>
          <p:cNvPr id="9" name="Text 7"/>
          <p:cNvSpPr/>
          <p:nvPr/>
        </p:nvSpPr>
        <p:spPr>
          <a:xfrm>
            <a:off x="6318504"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slides/img/06-risks.png</a:t>
            </a:r>
            <a:endParaRPr lang="en-US" sz="850" dirty="0"/>
          </a:p>
        </p:txBody>
      </p:sp>
      <p:sp>
        <p:nvSpPr>
          <p:cNvPr id="10" name="Text 8"/>
          <p:cNvSpPr/>
          <p:nvPr/>
        </p:nvSpPr>
        <p:spPr>
          <a:xfrm>
            <a:off x="5669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Know what's coming.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And what to do about it.</a:t>
            </a:r>
            <a:endParaRPr lang="en-US" sz="2400" dirty="0"/>
          </a:p>
        </p:txBody>
      </p:sp>
      <p:sp>
        <p:nvSpPr>
          <p:cNvPr id="11" name="Text 9"/>
          <p:cNvSpPr/>
          <p:nvPr/>
        </p:nvSpPr>
        <p:spPr>
          <a:xfrm>
            <a:off x="5669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Heat, frost, rain, wind, pest and disease windows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Each alert explains the trigger and the window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Today's Actions turn everything into a short, ordered list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One screen the farmer can act on in 60 seconds
</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Live demo · 6 of 6</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9 / 14</a:t>
            </a:r>
            <a:endParaRPr lang="en-US" sz="850" dirty="0"/>
          </a:p>
        </p:txBody>
      </p:sp>
      <p:sp>
        <p:nvSpPr>
          <p:cNvPr id="7" name="Shape 5"/>
          <p:cNvSpPr/>
          <p:nvPr/>
        </p:nvSpPr>
        <p:spPr>
          <a:xfrm>
            <a:off x="566928" y="1417320"/>
            <a:ext cx="5486400" cy="4206240"/>
          </a:xfrm>
          <a:prstGeom prst="roundRect">
            <a:avLst>
              <a:gd name="adj" fmla="val 1957"/>
            </a:avLst>
          </a:prstGeom>
          <a:solidFill>
            <a:srgbClr val="0D120A"/>
          </a:solidFill>
          <a:ln w="15875">
            <a:solidFill>
              <a:srgbClr val="39452F"/>
            </a:solidFill>
            <a:prstDash val="dash"/>
          </a:ln>
        </p:spPr>
      </p:sp>
      <p:sp>
        <p:nvSpPr>
          <p:cNvPr id="8" name="Text 6"/>
          <p:cNvSpPr/>
          <p:nvPr/>
        </p:nvSpPr>
        <p:spPr>
          <a:xfrm>
            <a:off x="749808" y="3154680"/>
            <a:ext cx="5120640" cy="320040"/>
          </a:xfrm>
          <a:prstGeom prst="rect">
            <a:avLst/>
          </a:prstGeom>
          <a:noFill/>
          <a:ln/>
        </p:spPr>
        <p:txBody>
          <a:bodyPr wrap="square" rtlCol="0" anchor="ctr"/>
          <a:lstStyle/>
          <a:p>
            <a:pPr algn="ctr" indent="0" marL="0">
              <a:buNone/>
            </a:pPr>
            <a:r>
              <a:rPr lang="en-US" sz="1200" b="1" dirty="0">
                <a:solidFill>
                  <a:srgbClr val="9FAC93"/>
                </a:solidFill>
                <a:latin typeface="Segoe UI" pitchFamily="34" charset="0"/>
                <a:ea typeface="Segoe UI" pitchFamily="34" charset="-122"/>
                <a:cs typeface="Segoe UI" pitchFamily="34" charset="-120"/>
              </a:rPr>
              <a:t>Yield / Expenses</a:t>
            </a:r>
            <a:endParaRPr lang="en-US" sz="1200" dirty="0"/>
          </a:p>
        </p:txBody>
      </p:sp>
      <p:sp>
        <p:nvSpPr>
          <p:cNvPr id="9" name="Text 7"/>
          <p:cNvSpPr/>
          <p:nvPr/>
        </p:nvSpPr>
        <p:spPr>
          <a:xfrm>
            <a:off x="749808" y="3520440"/>
            <a:ext cx="5120640" cy="274320"/>
          </a:xfrm>
          <a:prstGeom prst="rect">
            <a:avLst/>
          </a:prstGeom>
          <a:noFill/>
          <a:ln/>
        </p:spPr>
        <p:txBody>
          <a:bodyPr wrap="square" rtlCol="0" anchor="ctr"/>
          <a:lstStyle/>
          <a:p>
            <a:pPr algn="ctr" indent="0" marL="0">
              <a:buNone/>
            </a:pPr>
            <a:r>
              <a:rPr lang="en-US" sz="850" dirty="0">
                <a:solidFill>
                  <a:srgbClr val="6F7D66"/>
                </a:solidFill>
                <a:latin typeface="Segoe UI" pitchFamily="34" charset="0"/>
                <a:ea typeface="Segoe UI" pitchFamily="34" charset="-122"/>
                <a:cs typeface="Segoe UI" pitchFamily="34" charset="-120"/>
              </a:rPr>
              <a:t>paste screenshot as slides/img/07-yield.png</a:t>
            </a:r>
            <a:endParaRPr lang="en-US" sz="850" dirty="0"/>
          </a:p>
        </p:txBody>
      </p:sp>
      <p:sp>
        <p:nvSpPr>
          <p:cNvPr id="10" name="Text 8"/>
          <p:cNvSpPr/>
          <p:nvPr/>
        </p:nvSpPr>
        <p:spPr>
          <a:xfrm>
            <a:off x="6510528" y="1417320"/>
            <a:ext cx="5111496" cy="1417320"/>
          </a:xfrm>
          <a:prstGeom prst="rect">
            <a:avLst/>
          </a:prstGeom>
          <a:noFill/>
          <a:ln/>
        </p:spPr>
        <p:txBody>
          <a:bodyPr wrap="square" rtlCol="0" anchor="t"/>
          <a:lstStyle/>
          <a:p>
            <a:pPr indent="0" marL="0">
              <a:lnSpc>
                <a:spcPts val="2800"/>
              </a:lnSpc>
              <a:buNone/>
            </a:pPr>
            <a:r>
              <a:rPr lang="en-US" sz="2400" b="1" dirty="0">
                <a:solidFill>
                  <a:srgbClr val="000000"/>
                </a:solidFill>
                <a:latin typeface="Segoe UI" pitchFamily="34" charset="0"/>
                <a:ea typeface="Segoe UI" pitchFamily="34" charset="-122"/>
                <a:cs typeface="Segoe UI" pitchFamily="34" charset="-120"/>
              </a:rPr>
              <a:t>Plan the season.
</a:t>
            </a:r>
            <a:pPr indent="0" marL="0">
              <a:lnSpc>
                <a:spcPts val="2800"/>
              </a:lnSpc>
              <a:buNone/>
            </a:pPr>
            <a:r>
              <a:rPr lang="en-US" sz="2400" b="1" dirty="0">
                <a:solidFill>
                  <a:srgbClr val="B4CD56"/>
                </a:solidFill>
                <a:latin typeface="Segoe UI" pitchFamily="34" charset="0"/>
                <a:ea typeface="Segoe UI" pitchFamily="34" charset="-122"/>
                <a:cs typeface="Segoe UI" pitchFamily="34" charset="-120"/>
              </a:rPr>
              <a:t>And the money.</a:t>
            </a:r>
            <a:endParaRPr lang="en-US" sz="2400" dirty="0"/>
          </a:p>
        </p:txBody>
      </p:sp>
      <p:sp>
        <p:nvSpPr>
          <p:cNvPr id="11" name="Text 9"/>
          <p:cNvSpPr/>
          <p:nvPr/>
        </p:nvSpPr>
        <p:spPr>
          <a:xfrm>
            <a:off x="6510528" y="2926080"/>
            <a:ext cx="5111496" cy="2651760"/>
          </a:xfrm>
          <a:prstGeom prst="rect">
            <a:avLst/>
          </a:prstGeom>
          <a:noFill/>
          <a:ln/>
        </p:spPr>
        <p:txBody>
          <a:bodyPr wrap="square" rtlCol="0" anchor="t"/>
          <a:lstStyle/>
          <a:p>
            <a:pPr marL="203200" indent="-203200">
              <a:lnSpc>
                <a:spcPts val="2700"/>
              </a:lnSpc>
              <a:buSzPct val="100000"/>
              <a:buChar char="•"/>
            </a:pPr>
            <a:r>
              <a:rPr lang="en-US" sz="1150" dirty="0">
                <a:solidFill>
                  <a:srgbClr val="E9EFE1"/>
                </a:solidFill>
                <a:latin typeface="Segoe UI" pitchFamily="34" charset="0"/>
                <a:ea typeface="Segoe UI" pitchFamily="34" charset="-122"/>
                <a:cs typeface="Segoe UI" pitchFamily="34" charset="-120"/>
              </a:rPr>
              <a:t>Yield estimate with the factors behind it — not a magic number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Costs tracked by category across the season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Sowing → harvest calendar tied to the real crop stage
</a:t>
            </a:r>
            <a:pPr indent="0" marL="0">
              <a:lnSpc>
                <a:spcPts val="2700"/>
              </a:lnSpc>
              <a:buNone/>
            </a:pPr>
            <a:r>
              <a:rPr lang="en-US" sz="1150" dirty="0">
                <a:solidFill>
                  <a:srgbClr val="E9EFE1"/>
                </a:solidFill>
                <a:latin typeface="Segoe UI" pitchFamily="34" charset="0"/>
                <a:ea typeface="Segoe UI" pitchFamily="34" charset="-122"/>
                <a:cs typeface="Segoe UI" pitchFamily="34" charset="-120"/>
              </a:rPr>
              <a:t>Comparisons that make the next season cheaper
</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Design decision</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10 / 14</a:t>
            </a:r>
            <a:endParaRPr lang="en-US" sz="850" dirty="0"/>
          </a:p>
        </p:txBody>
      </p:sp>
      <p:sp>
        <p:nvSpPr>
          <p:cNvPr id="7" name="Text 5"/>
          <p:cNvSpPr/>
          <p:nvPr/>
        </p:nvSpPr>
        <p:spPr>
          <a:xfrm>
            <a:off x="566928" y="960120"/>
            <a:ext cx="11055096" cy="1371600"/>
          </a:xfrm>
          <a:prstGeom prst="rect">
            <a:avLst/>
          </a:prstGeom>
          <a:noFill/>
          <a:ln/>
        </p:spPr>
        <p:txBody>
          <a:bodyPr wrap="square" rtlCol="0" anchor="t"/>
          <a:lstStyle/>
          <a:p>
            <a:pPr indent="0" marL="0">
              <a:lnSpc>
                <a:spcPts val="2990"/>
              </a:lnSpc>
              <a:buNone/>
            </a:pPr>
            <a:r>
              <a:rPr lang="en-US" sz="2600" b="1" dirty="0">
                <a:solidFill>
                  <a:srgbClr val="E9EFE1"/>
                </a:solidFill>
                <a:latin typeface="Segoe UI" pitchFamily="34" charset="0"/>
                <a:ea typeface="Segoe UI" pitchFamily="34" charset="-122"/>
                <a:cs typeface="Segoe UI" pitchFamily="34" charset="-120"/>
              </a:rPr>
              <a:t>Urdu isn't a translation layer.
</a:t>
            </a:r>
            <a:pPr indent="0" marL="0">
              <a:lnSpc>
                <a:spcPts val="2990"/>
              </a:lnSpc>
              <a:buNone/>
            </a:pPr>
            <a:r>
              <a:rPr lang="en-US" sz="2600" b="1" dirty="0">
                <a:solidFill>
                  <a:srgbClr val="B4CD56"/>
                </a:solidFill>
                <a:latin typeface="Segoe UI" pitchFamily="34" charset="0"/>
                <a:ea typeface="Segoe UI" pitchFamily="34" charset="-122"/>
                <a:cs typeface="Segoe UI" pitchFamily="34" charset="-120"/>
              </a:rPr>
              <a:t>It's the product.</a:t>
            </a:r>
            <a:endParaRPr lang="en-US" sz="2600" dirty="0"/>
          </a:p>
        </p:txBody>
      </p:sp>
      <p:sp>
        <p:nvSpPr>
          <p:cNvPr id="8" name="Shape 6"/>
          <p:cNvSpPr/>
          <p:nvPr/>
        </p:nvSpPr>
        <p:spPr>
          <a:xfrm>
            <a:off x="566928" y="2331720"/>
            <a:ext cx="3587496" cy="1371600"/>
          </a:xfrm>
          <a:prstGeom prst="roundRect">
            <a:avLst>
              <a:gd name="adj" fmla="val 6000"/>
            </a:avLst>
          </a:prstGeom>
          <a:solidFill>
            <a:srgbClr val="151D12"/>
          </a:solidFill>
          <a:ln w="12700">
            <a:solidFill>
              <a:srgbClr val="26321F"/>
            </a:solidFill>
            <a:prstDash val="solid"/>
          </a:ln>
        </p:spPr>
      </p:sp>
      <p:sp>
        <p:nvSpPr>
          <p:cNvPr id="9" name="Text 7"/>
          <p:cNvSpPr/>
          <p:nvPr/>
        </p:nvSpPr>
        <p:spPr>
          <a:xfrm>
            <a:off x="749808" y="247802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Real RTL, not flipped</a:t>
            </a:r>
            <a:endParaRPr lang="en-US" sz="1250" dirty="0"/>
          </a:p>
        </p:txBody>
      </p:sp>
      <p:sp>
        <p:nvSpPr>
          <p:cNvPr id="10" name="Text 8"/>
          <p:cNvSpPr/>
          <p:nvPr/>
        </p:nvSpPr>
        <p:spPr>
          <a:xfrm>
            <a:off x="749808" y="2825496"/>
            <a:ext cx="3221736" cy="80467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Logical spacing and alignment throughout, so layouts mirror correctly instead of breaking.</a:t>
            </a:r>
            <a:endParaRPr lang="en-US" sz="1000" dirty="0"/>
          </a:p>
        </p:txBody>
      </p:sp>
      <p:sp>
        <p:nvSpPr>
          <p:cNvPr id="11" name="Shape 9"/>
          <p:cNvSpPr/>
          <p:nvPr/>
        </p:nvSpPr>
        <p:spPr>
          <a:xfrm>
            <a:off x="4300728" y="2331720"/>
            <a:ext cx="3587496" cy="1371600"/>
          </a:xfrm>
          <a:prstGeom prst="roundRect">
            <a:avLst>
              <a:gd name="adj" fmla="val 6000"/>
            </a:avLst>
          </a:prstGeom>
          <a:solidFill>
            <a:srgbClr val="151D12"/>
          </a:solidFill>
          <a:ln w="12700">
            <a:solidFill>
              <a:srgbClr val="26321F"/>
            </a:solidFill>
            <a:prstDash val="solid"/>
          </a:ln>
        </p:spPr>
      </p:sp>
      <p:sp>
        <p:nvSpPr>
          <p:cNvPr id="12" name="Text 10"/>
          <p:cNvSpPr/>
          <p:nvPr/>
        </p:nvSpPr>
        <p:spPr>
          <a:xfrm>
            <a:off x="4483608" y="247802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Typography that stays readable</a:t>
            </a:r>
            <a:endParaRPr lang="en-US" sz="1250" dirty="0"/>
          </a:p>
        </p:txBody>
      </p:sp>
      <p:sp>
        <p:nvSpPr>
          <p:cNvPr id="13" name="Text 11"/>
          <p:cNvSpPr/>
          <p:nvPr/>
        </p:nvSpPr>
        <p:spPr>
          <a:xfrm>
            <a:off x="4483608" y="2825496"/>
            <a:ext cx="3221736" cy="80467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Noto Sans Urdu for UI at 12–16 px; no root font scaling, so nothing overflows.</a:t>
            </a:r>
            <a:endParaRPr lang="en-US" sz="1000" dirty="0"/>
          </a:p>
        </p:txBody>
      </p:sp>
      <p:sp>
        <p:nvSpPr>
          <p:cNvPr id="14" name="Shape 12"/>
          <p:cNvSpPr/>
          <p:nvPr/>
        </p:nvSpPr>
        <p:spPr>
          <a:xfrm>
            <a:off x="8034528" y="2331720"/>
            <a:ext cx="3587496" cy="1371600"/>
          </a:xfrm>
          <a:prstGeom prst="roundRect">
            <a:avLst>
              <a:gd name="adj" fmla="val 6000"/>
            </a:avLst>
          </a:prstGeom>
          <a:solidFill>
            <a:srgbClr val="151D12"/>
          </a:solidFill>
          <a:ln w="12700">
            <a:solidFill>
              <a:srgbClr val="26321F"/>
            </a:solidFill>
            <a:prstDash val="solid"/>
          </a:ln>
        </p:spPr>
      </p:sp>
      <p:sp>
        <p:nvSpPr>
          <p:cNvPr id="15" name="Text 13"/>
          <p:cNvSpPr/>
          <p:nvPr/>
        </p:nvSpPr>
        <p:spPr>
          <a:xfrm>
            <a:off x="8217408" y="247802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AI follows the UI</a:t>
            </a:r>
            <a:endParaRPr lang="en-US" sz="1250" dirty="0"/>
          </a:p>
        </p:txBody>
      </p:sp>
      <p:sp>
        <p:nvSpPr>
          <p:cNvPr id="16" name="Text 14"/>
          <p:cNvSpPr/>
          <p:nvPr/>
        </p:nvSpPr>
        <p:spPr>
          <a:xfrm>
            <a:off x="8217408" y="2825496"/>
            <a:ext cx="3221736" cy="80467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Diagnosis and chat answer in the selected language — verified on the server.</a:t>
            </a:r>
            <a:endParaRPr lang="en-US" sz="1000" dirty="0"/>
          </a:p>
        </p:txBody>
      </p:sp>
      <p:sp>
        <p:nvSpPr>
          <p:cNvPr id="17" name="Shape 15"/>
          <p:cNvSpPr/>
          <p:nvPr/>
        </p:nvSpPr>
        <p:spPr>
          <a:xfrm>
            <a:off x="566928" y="3977640"/>
            <a:ext cx="11055096" cy="566928"/>
          </a:xfrm>
          <a:prstGeom prst="roundRect">
            <a:avLst>
              <a:gd name="adj" fmla="val 12903"/>
            </a:avLst>
          </a:prstGeom>
          <a:solidFill>
            <a:srgbClr val="1B2417"/>
          </a:solidFill>
          <a:ln w="12700">
            <a:solidFill>
              <a:srgbClr val="26321F"/>
            </a:solidFill>
            <a:prstDash val="solid"/>
          </a:ln>
        </p:spPr>
      </p:sp>
      <p:sp>
        <p:nvSpPr>
          <p:cNvPr id="18" name="Text 16"/>
          <p:cNvSpPr/>
          <p:nvPr/>
        </p:nvSpPr>
        <p:spPr>
          <a:xfrm>
            <a:off x="749808" y="4023360"/>
            <a:ext cx="914400" cy="475488"/>
          </a:xfrm>
          <a:prstGeom prst="rect">
            <a:avLst/>
          </a:prstGeom>
          <a:noFill/>
          <a:ln/>
        </p:spPr>
        <p:txBody>
          <a:bodyPr wrap="square" rtlCol="0" anchor="ctr"/>
          <a:lstStyle/>
          <a:p>
            <a:pPr indent="0" marL="0">
              <a:buNone/>
            </a:pPr>
            <a:r>
              <a:rPr lang="en-US" sz="850" b="1" spc="150" kern="0" dirty="0">
                <a:solidFill>
                  <a:srgbClr val="6F7D66"/>
                </a:solidFill>
                <a:latin typeface="Segoe UI" pitchFamily="34" charset="0"/>
                <a:ea typeface="Segoe UI" pitchFamily="34" charset="-122"/>
                <a:cs typeface="Segoe UI" pitchFamily="34" charset="-120"/>
              </a:rPr>
              <a:t>UI  ·  ENGLISH</a:t>
            </a:r>
            <a:endParaRPr lang="en-US" sz="850" dirty="0"/>
          </a:p>
        </p:txBody>
      </p:sp>
      <p:sp>
        <p:nvSpPr>
          <p:cNvPr id="19" name="Text 17"/>
          <p:cNvSpPr/>
          <p:nvPr/>
        </p:nvSpPr>
        <p:spPr>
          <a:xfrm>
            <a:off x="1755648" y="4005072"/>
            <a:ext cx="9500616" cy="512064"/>
          </a:xfrm>
          <a:prstGeom prst="rect">
            <a:avLst/>
          </a:prstGeom>
          <a:noFill/>
          <a:ln/>
        </p:spPr>
        <p:txBody>
          <a:bodyPr wrap="square" rtlCol="0" anchor="ctr"/>
          <a:lstStyle/>
          <a:p>
            <a:pPr rtl="1" algn="r" indent="0" marL="0">
              <a:buNone/>
            </a:pPr>
            <a:r>
              <a:rPr lang="en-US" sz="1300" dirty="0">
                <a:solidFill>
                  <a:srgbClr val="E9EFE1"/>
                </a:solidFill>
                <a:latin typeface="Noto Sans Urdu" pitchFamily="34" charset="0"/>
                <a:ea typeface="Noto Sans Urdu" pitchFamily="34" charset="-122"/>
                <a:cs typeface="Noto Sans Urdu" pitchFamily="34" charset="-120"/>
              </a:rPr>
              <a:t>What should I do today?</a:t>
            </a:r>
            <a:endParaRPr lang="en-US" sz="1300" dirty="0"/>
          </a:p>
        </p:txBody>
      </p:sp>
      <p:sp>
        <p:nvSpPr>
          <p:cNvPr id="20" name="Shape 18"/>
          <p:cNvSpPr/>
          <p:nvPr/>
        </p:nvSpPr>
        <p:spPr>
          <a:xfrm>
            <a:off x="566928" y="4636008"/>
            <a:ext cx="11055096" cy="566928"/>
          </a:xfrm>
          <a:prstGeom prst="roundRect">
            <a:avLst>
              <a:gd name="adj" fmla="val 12903"/>
            </a:avLst>
          </a:prstGeom>
          <a:solidFill>
            <a:srgbClr val="1B2417"/>
          </a:solidFill>
          <a:ln w="12700">
            <a:solidFill>
              <a:srgbClr val="26321F"/>
            </a:solidFill>
            <a:prstDash val="solid"/>
          </a:ln>
        </p:spPr>
      </p:sp>
      <p:sp>
        <p:nvSpPr>
          <p:cNvPr id="21" name="Text 19"/>
          <p:cNvSpPr/>
          <p:nvPr/>
        </p:nvSpPr>
        <p:spPr>
          <a:xfrm>
            <a:off x="749808" y="4681728"/>
            <a:ext cx="914400" cy="475488"/>
          </a:xfrm>
          <a:prstGeom prst="rect">
            <a:avLst/>
          </a:prstGeom>
          <a:noFill/>
          <a:ln/>
        </p:spPr>
        <p:txBody>
          <a:bodyPr wrap="square" rtlCol="0" anchor="ctr"/>
          <a:lstStyle/>
          <a:p>
            <a:pPr indent="0" marL="0">
              <a:buNone/>
            </a:pPr>
            <a:r>
              <a:rPr lang="en-US" sz="850" b="1" spc="150" kern="0" dirty="0">
                <a:solidFill>
                  <a:srgbClr val="6F7D66"/>
                </a:solidFill>
                <a:latin typeface="Segoe UI" pitchFamily="34" charset="0"/>
                <a:ea typeface="Segoe UI" pitchFamily="34" charset="-122"/>
                <a:cs typeface="Segoe UI" pitchFamily="34" charset="-120"/>
              </a:rPr>
              <a:t>UI  ·  URDU</a:t>
            </a:r>
            <a:endParaRPr lang="en-US" sz="850" dirty="0"/>
          </a:p>
        </p:txBody>
      </p:sp>
      <p:sp>
        <p:nvSpPr>
          <p:cNvPr id="22" name="Text 20"/>
          <p:cNvSpPr/>
          <p:nvPr/>
        </p:nvSpPr>
        <p:spPr>
          <a:xfrm>
            <a:off x="1755648" y="4663440"/>
            <a:ext cx="9500616" cy="512064"/>
          </a:xfrm>
          <a:prstGeom prst="rect">
            <a:avLst/>
          </a:prstGeom>
          <a:noFill/>
          <a:ln/>
        </p:spPr>
        <p:txBody>
          <a:bodyPr wrap="square" rtlCol="0" anchor="ctr"/>
          <a:lstStyle/>
          <a:p>
            <a:pPr rtl="1" algn="r" indent="0" marL="0">
              <a:buNone/>
            </a:pPr>
            <a:r>
              <a:rPr lang="en-US" sz="1300" dirty="0">
                <a:solidFill>
                  <a:srgbClr val="E9EFE1"/>
                </a:solidFill>
                <a:latin typeface="Noto Sans Urdu" pitchFamily="34" charset="0"/>
                <a:ea typeface="Noto Sans Urdu" pitchFamily="34" charset="-122"/>
                <a:cs typeface="Noto Sans Urdu" pitchFamily="34" charset="-120"/>
              </a:rPr>
              <a:t>آج کیا کرنا ہے؟</a:t>
            </a:r>
            <a:endParaRPr lang="en-US" sz="1300" dirty="0"/>
          </a:p>
        </p:txBody>
      </p:sp>
      <p:sp>
        <p:nvSpPr>
          <p:cNvPr id="23" name="Shape 21"/>
          <p:cNvSpPr/>
          <p:nvPr/>
        </p:nvSpPr>
        <p:spPr>
          <a:xfrm>
            <a:off x="566928" y="5294376"/>
            <a:ext cx="11055096" cy="566928"/>
          </a:xfrm>
          <a:prstGeom prst="roundRect">
            <a:avLst>
              <a:gd name="adj" fmla="val 12903"/>
            </a:avLst>
          </a:prstGeom>
          <a:solidFill>
            <a:srgbClr val="1B2417"/>
          </a:solidFill>
          <a:ln w="12700">
            <a:solidFill>
              <a:srgbClr val="26321F"/>
            </a:solidFill>
            <a:prstDash val="solid"/>
          </a:ln>
        </p:spPr>
      </p:sp>
      <p:sp>
        <p:nvSpPr>
          <p:cNvPr id="24" name="Text 22"/>
          <p:cNvSpPr/>
          <p:nvPr/>
        </p:nvSpPr>
        <p:spPr>
          <a:xfrm>
            <a:off x="749808" y="5340096"/>
            <a:ext cx="914400" cy="475488"/>
          </a:xfrm>
          <a:prstGeom prst="rect">
            <a:avLst/>
          </a:prstGeom>
          <a:noFill/>
          <a:ln/>
        </p:spPr>
        <p:txBody>
          <a:bodyPr wrap="square" rtlCol="0" anchor="ctr"/>
          <a:lstStyle/>
          <a:p>
            <a:pPr indent="0" marL="0">
              <a:buNone/>
            </a:pPr>
            <a:r>
              <a:rPr lang="en-US" sz="850" b="1" spc="150" kern="0" dirty="0">
                <a:solidFill>
                  <a:srgbClr val="6F7D66"/>
                </a:solidFill>
                <a:latin typeface="Segoe UI" pitchFamily="34" charset="0"/>
                <a:ea typeface="Segoe UI" pitchFamily="34" charset="-122"/>
                <a:cs typeface="Segoe UI" pitchFamily="34" charset="-120"/>
              </a:rPr>
              <a:t>AI  ·  URDU</a:t>
            </a:r>
            <a:endParaRPr lang="en-US" sz="850" dirty="0"/>
          </a:p>
        </p:txBody>
      </p:sp>
      <p:sp>
        <p:nvSpPr>
          <p:cNvPr id="25" name="Text 23"/>
          <p:cNvSpPr/>
          <p:nvPr/>
        </p:nvSpPr>
        <p:spPr>
          <a:xfrm>
            <a:off x="1755648" y="5321808"/>
            <a:ext cx="9500616" cy="512064"/>
          </a:xfrm>
          <a:prstGeom prst="rect">
            <a:avLst/>
          </a:prstGeom>
          <a:noFill/>
          <a:ln/>
        </p:spPr>
        <p:txBody>
          <a:bodyPr wrap="square" rtlCol="0" anchor="ctr"/>
          <a:lstStyle/>
          <a:p>
            <a:pPr rtl="1" algn="r" indent="0" marL="0">
              <a:buNone/>
            </a:pPr>
            <a:r>
              <a:rPr lang="en-US" sz="1300" dirty="0">
                <a:solidFill>
                  <a:srgbClr val="E9EFE1"/>
                </a:solidFill>
                <a:latin typeface="Noto Sans Urdu" pitchFamily="34" charset="0"/>
                <a:ea typeface="Noto Sans Urdu" pitchFamily="34" charset="-122"/>
                <a:cs typeface="Noto Sans Urdu" pitchFamily="34" charset="-120"/>
              </a:rPr>
              <a:t>آلو کے پتوں پر دھبے دیر سے جھلسنے کی علامت ہیں۔</a:t>
            </a:r>
            <a:endParaRPr lang="en-US" sz="1300" dirty="0"/>
          </a:p>
        </p:txBody>
      </p:sp>
      <p:sp>
        <p:nvSpPr>
          <p:cNvPr id="26" name="Shape 24"/>
          <p:cNvSpPr/>
          <p:nvPr/>
        </p:nvSpPr>
        <p:spPr>
          <a:xfrm>
            <a:off x="566928" y="6035040"/>
            <a:ext cx="41148" cy="365760"/>
          </a:xfrm>
          <a:prstGeom prst="rect">
            <a:avLst/>
          </a:prstGeom>
          <a:solidFill>
            <a:srgbClr val="B4CD56"/>
          </a:solidFill>
          <a:ln/>
        </p:spPr>
      </p:sp>
      <p:sp>
        <p:nvSpPr>
          <p:cNvPr id="27" name="Text 25"/>
          <p:cNvSpPr/>
          <p:nvPr/>
        </p:nvSpPr>
        <p:spPr>
          <a:xfrm>
            <a:off x="731520" y="6035040"/>
            <a:ext cx="10872216" cy="365760"/>
          </a:xfrm>
          <a:prstGeom prst="rect">
            <a:avLst/>
          </a:prstGeom>
          <a:noFill/>
          <a:ln/>
        </p:spPr>
        <p:txBody>
          <a:bodyPr wrap="square" rtlCol="0" anchor="ctr"/>
          <a:lstStyle/>
          <a:p>
            <a:pPr indent="0" marL="0">
              <a:buNone/>
            </a:pPr>
            <a:r>
              <a:rPr lang="en-US" sz="1050" dirty="0">
                <a:solidFill>
                  <a:srgbClr val="9FAC93"/>
                </a:solidFill>
                <a:latin typeface="Segoe UI" pitchFamily="34" charset="0"/>
                <a:ea typeface="Segoe UI" pitchFamily="34" charset="-122"/>
                <a:cs typeface="Segoe UI" pitchFamily="34" charset="-120"/>
              </a:rPr>
              <a:t>Every key exists in both dictionaries, and a test fails the build if English and Urdu drift apart.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How it works</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11 / 14</a:t>
            </a:r>
            <a:endParaRPr lang="en-US" sz="850" dirty="0"/>
          </a:p>
        </p:txBody>
      </p:sp>
      <p:sp>
        <p:nvSpPr>
          <p:cNvPr id="7" name="Text 5"/>
          <p:cNvSpPr/>
          <p:nvPr/>
        </p:nvSpPr>
        <p:spPr>
          <a:xfrm>
            <a:off x="566928" y="960120"/>
            <a:ext cx="11055096" cy="548640"/>
          </a:xfrm>
          <a:prstGeom prst="rect">
            <a:avLst/>
          </a:prstGeom>
          <a:noFill/>
          <a:ln/>
        </p:spPr>
        <p:txBody>
          <a:bodyPr wrap="square" rtlCol="0" anchor="t"/>
          <a:lstStyle/>
          <a:p>
            <a:pPr indent="0" marL="0">
              <a:lnSpc>
                <a:spcPts val="2760"/>
              </a:lnSpc>
              <a:buNone/>
            </a:pPr>
            <a:r>
              <a:rPr lang="en-US" sz="2400" b="1" dirty="0">
                <a:solidFill>
                  <a:srgbClr val="E9EFE1"/>
                </a:solidFill>
                <a:latin typeface="Segoe UI" pitchFamily="34" charset="0"/>
                <a:ea typeface="Segoe UI" pitchFamily="34" charset="-122"/>
                <a:cs typeface="Segoe UI" pitchFamily="34" charset="-120"/>
              </a:rPr>
              <a:t>A small stack with </a:t>
            </a:r>
            <a:pPr indent="0" marL="0">
              <a:lnSpc>
                <a:spcPts val="2760"/>
              </a:lnSpc>
              <a:buNone/>
            </a:pPr>
            <a:r>
              <a:rPr lang="en-US" sz="2400" b="1" dirty="0">
                <a:solidFill>
                  <a:srgbClr val="B4CD56"/>
                </a:solidFill>
                <a:latin typeface="Segoe UI" pitchFamily="34" charset="0"/>
                <a:ea typeface="Segoe UI" pitchFamily="34" charset="-122"/>
                <a:cs typeface="Segoe UI" pitchFamily="34" charset="-120"/>
              </a:rPr>
              <a:t>nothing to babysit.</a:t>
            </a:r>
            <a:endParaRPr lang="en-US" sz="2400" dirty="0"/>
          </a:p>
        </p:txBody>
      </p:sp>
      <p:sp>
        <p:nvSpPr>
          <p:cNvPr id="8" name="Text 6"/>
          <p:cNvSpPr/>
          <p:nvPr/>
        </p:nvSpPr>
        <p:spPr>
          <a:xfrm>
            <a:off x="566928" y="1828800"/>
            <a:ext cx="1600200" cy="777240"/>
          </a:xfrm>
          <a:prstGeom prst="rect">
            <a:avLst/>
          </a:prstGeom>
          <a:noFill/>
          <a:ln/>
        </p:spPr>
        <p:txBody>
          <a:bodyPr wrap="square" rtlCol="0" anchor="ctr"/>
          <a:lstStyle/>
          <a:p>
            <a:pPr algn="r" indent="0" marL="0">
              <a:buNone/>
            </a:pPr>
            <a:r>
              <a:rPr lang="en-US" sz="850" b="1" spc="160" kern="0" dirty="0">
                <a:solidFill>
                  <a:srgbClr val="6F7D66"/>
                </a:solidFill>
                <a:latin typeface="Segoe UI" pitchFamily="34" charset="0"/>
                <a:ea typeface="Segoe UI" pitchFamily="34" charset="-122"/>
                <a:cs typeface="Segoe UI" pitchFamily="34" charset="-120"/>
              </a:rPr>
              <a:t>CLIENT</a:t>
            </a:r>
            <a:endParaRPr lang="en-US" sz="850" dirty="0"/>
          </a:p>
        </p:txBody>
      </p:sp>
      <p:sp>
        <p:nvSpPr>
          <p:cNvPr id="9" name="Shape 7"/>
          <p:cNvSpPr/>
          <p:nvPr/>
        </p:nvSpPr>
        <p:spPr>
          <a:xfrm>
            <a:off x="2350008" y="1783080"/>
            <a:ext cx="9272016" cy="822960"/>
          </a:xfrm>
          <a:prstGeom prst="roundRect">
            <a:avLst>
              <a:gd name="adj" fmla="val 8889"/>
            </a:avLst>
          </a:prstGeom>
          <a:solidFill>
            <a:srgbClr val="151D12"/>
          </a:solidFill>
          <a:ln w="12700">
            <a:solidFill>
              <a:srgbClr val="26321F"/>
            </a:solidFill>
            <a:prstDash val="solid"/>
          </a:ln>
        </p:spPr>
      </p:sp>
      <p:sp>
        <p:nvSpPr>
          <p:cNvPr id="10" name="Text 8"/>
          <p:cNvSpPr/>
          <p:nvPr/>
        </p:nvSpPr>
        <p:spPr>
          <a:xfrm>
            <a:off x="2532888" y="1874520"/>
            <a:ext cx="8906256" cy="640080"/>
          </a:xfrm>
          <a:prstGeom prst="rect">
            <a:avLst/>
          </a:prstGeom>
          <a:noFill/>
          <a:ln/>
        </p:spPr>
        <p:txBody>
          <a:bodyPr wrap="square" rtlCol="0" anchor="ctr"/>
          <a:lstStyle/>
          <a:p>
            <a:pPr indent="0" marL="0">
              <a:buNone/>
            </a:pPr>
            <a:r>
              <a:rPr lang="en-US" sz="950" b="1" dirty="0">
                <a:solidFill>
                  <a:srgbClr val="DCECB0"/>
                </a:solidFill>
                <a:latin typeface="Consolas" pitchFamily="34" charset="0"/>
                <a:ea typeface="Consolas" pitchFamily="34" charset="-122"/>
                <a:cs typeface="Consolas" pitchFamily="34" charset="-120"/>
              </a:rPr>
              <a:t>React 18</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TypeScript</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Vite 7</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Tailwind 4</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Radix UI</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Recharts</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Vercel</a:t>
            </a:r>
            <a:endParaRPr lang="en-US" sz="950" dirty="0"/>
          </a:p>
        </p:txBody>
      </p:sp>
      <p:sp>
        <p:nvSpPr>
          <p:cNvPr id="11" name="Text 9"/>
          <p:cNvSpPr/>
          <p:nvPr/>
        </p:nvSpPr>
        <p:spPr>
          <a:xfrm>
            <a:off x="5728716" y="2587752"/>
            <a:ext cx="731520" cy="274320"/>
          </a:xfrm>
          <a:prstGeom prst="rect">
            <a:avLst/>
          </a:prstGeom>
          <a:noFill/>
          <a:ln/>
        </p:spPr>
        <p:txBody>
          <a:bodyPr wrap="square" rtlCol="0" anchor="ctr"/>
          <a:lstStyle/>
          <a:p>
            <a:pPr algn="ctr" indent="0" marL="0">
              <a:buNone/>
            </a:pPr>
            <a:r>
              <a:rPr lang="en-US" sz="800" dirty="0">
                <a:solidFill>
                  <a:srgbClr val="6F7D66"/>
                </a:solidFill>
                <a:latin typeface="Segoe UI" pitchFamily="34" charset="0"/>
                <a:ea typeface="Segoe UI" pitchFamily="34" charset="-122"/>
                <a:cs typeface="Segoe UI" pitchFamily="34" charset="-120"/>
              </a:rPr>
              <a:t>▼</a:t>
            </a:r>
            <a:endParaRPr lang="en-US" sz="800" dirty="0"/>
          </a:p>
        </p:txBody>
      </p:sp>
      <p:sp>
        <p:nvSpPr>
          <p:cNvPr id="12" name="Text 10"/>
          <p:cNvSpPr/>
          <p:nvPr/>
        </p:nvSpPr>
        <p:spPr>
          <a:xfrm>
            <a:off x="566928" y="2852928"/>
            <a:ext cx="1600200" cy="777240"/>
          </a:xfrm>
          <a:prstGeom prst="rect">
            <a:avLst/>
          </a:prstGeom>
          <a:noFill/>
          <a:ln/>
        </p:spPr>
        <p:txBody>
          <a:bodyPr wrap="square" rtlCol="0" anchor="ctr"/>
          <a:lstStyle/>
          <a:p>
            <a:pPr algn="r" indent="0" marL="0">
              <a:buNone/>
            </a:pPr>
            <a:r>
              <a:rPr lang="en-US" sz="850" b="1" spc="160" kern="0" dirty="0">
                <a:solidFill>
                  <a:srgbClr val="6F7D66"/>
                </a:solidFill>
                <a:latin typeface="Segoe UI" pitchFamily="34" charset="0"/>
                <a:ea typeface="Segoe UI" pitchFamily="34" charset="-122"/>
                <a:cs typeface="Segoe UI" pitchFamily="34" charset="-120"/>
              </a:rPr>
              <a:t>BACKEND</a:t>
            </a:r>
            <a:endParaRPr lang="en-US" sz="850" dirty="0"/>
          </a:p>
        </p:txBody>
      </p:sp>
      <p:sp>
        <p:nvSpPr>
          <p:cNvPr id="13" name="Shape 11"/>
          <p:cNvSpPr/>
          <p:nvPr/>
        </p:nvSpPr>
        <p:spPr>
          <a:xfrm>
            <a:off x="2350008" y="2807208"/>
            <a:ext cx="9272016" cy="822960"/>
          </a:xfrm>
          <a:prstGeom prst="roundRect">
            <a:avLst>
              <a:gd name="adj" fmla="val 8889"/>
            </a:avLst>
          </a:prstGeom>
          <a:solidFill>
            <a:srgbClr val="151D12"/>
          </a:solidFill>
          <a:ln w="12700">
            <a:solidFill>
              <a:srgbClr val="26321F"/>
            </a:solidFill>
            <a:prstDash val="solid"/>
          </a:ln>
        </p:spPr>
      </p:sp>
      <p:sp>
        <p:nvSpPr>
          <p:cNvPr id="14" name="Text 12"/>
          <p:cNvSpPr/>
          <p:nvPr/>
        </p:nvSpPr>
        <p:spPr>
          <a:xfrm>
            <a:off x="2532888" y="2898648"/>
            <a:ext cx="8906256" cy="640080"/>
          </a:xfrm>
          <a:prstGeom prst="rect">
            <a:avLst/>
          </a:prstGeom>
          <a:noFill/>
          <a:ln/>
        </p:spPr>
        <p:txBody>
          <a:bodyPr wrap="square" rtlCol="0" anchor="ctr"/>
          <a:lstStyle/>
          <a:p>
            <a:pPr indent="0" marL="0">
              <a:buNone/>
            </a:pPr>
            <a:r>
              <a:rPr lang="en-US" sz="950" b="1" dirty="0">
                <a:solidFill>
                  <a:srgbClr val="DCECB0"/>
                </a:solidFill>
                <a:latin typeface="Consolas" pitchFamily="34" charset="0"/>
                <a:ea typeface="Consolas" pitchFamily="34" charset="-122"/>
                <a:cs typeface="Consolas" pitchFamily="34" charset="-120"/>
              </a:rPr>
              <a:t>Supabase Postgres</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Row Level Security</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Auth</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Storage</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7 tables</a:t>
            </a:r>
            <a:endParaRPr lang="en-US" sz="950" dirty="0"/>
          </a:p>
        </p:txBody>
      </p:sp>
      <p:sp>
        <p:nvSpPr>
          <p:cNvPr id="15" name="Text 13"/>
          <p:cNvSpPr/>
          <p:nvPr/>
        </p:nvSpPr>
        <p:spPr>
          <a:xfrm>
            <a:off x="5728716" y="3611880"/>
            <a:ext cx="731520" cy="274320"/>
          </a:xfrm>
          <a:prstGeom prst="rect">
            <a:avLst/>
          </a:prstGeom>
          <a:noFill/>
          <a:ln/>
        </p:spPr>
        <p:txBody>
          <a:bodyPr wrap="square" rtlCol="0" anchor="ctr"/>
          <a:lstStyle/>
          <a:p>
            <a:pPr algn="ctr" indent="0" marL="0">
              <a:buNone/>
            </a:pPr>
            <a:r>
              <a:rPr lang="en-US" sz="800" dirty="0">
                <a:solidFill>
                  <a:srgbClr val="6F7D66"/>
                </a:solidFill>
                <a:latin typeface="Segoe UI" pitchFamily="34" charset="0"/>
                <a:ea typeface="Segoe UI" pitchFamily="34" charset="-122"/>
                <a:cs typeface="Segoe UI" pitchFamily="34" charset="-120"/>
              </a:rPr>
              <a:t>▼</a:t>
            </a:r>
            <a:endParaRPr lang="en-US" sz="800" dirty="0"/>
          </a:p>
        </p:txBody>
      </p:sp>
      <p:sp>
        <p:nvSpPr>
          <p:cNvPr id="16" name="Text 14"/>
          <p:cNvSpPr/>
          <p:nvPr/>
        </p:nvSpPr>
        <p:spPr>
          <a:xfrm>
            <a:off x="566928" y="3877056"/>
            <a:ext cx="1600200" cy="777240"/>
          </a:xfrm>
          <a:prstGeom prst="rect">
            <a:avLst/>
          </a:prstGeom>
          <a:noFill/>
          <a:ln/>
        </p:spPr>
        <p:txBody>
          <a:bodyPr wrap="square" rtlCol="0" anchor="ctr"/>
          <a:lstStyle/>
          <a:p>
            <a:pPr algn="r" indent="0" marL="0">
              <a:buNone/>
            </a:pPr>
            <a:r>
              <a:rPr lang="en-US" sz="850" b="1" spc="160" kern="0" dirty="0">
                <a:solidFill>
                  <a:srgbClr val="6F7D66"/>
                </a:solidFill>
                <a:latin typeface="Segoe UI" pitchFamily="34" charset="0"/>
                <a:ea typeface="Segoe UI" pitchFamily="34" charset="-122"/>
                <a:cs typeface="Segoe UI" pitchFamily="34" charset="-120"/>
              </a:rPr>
              <a:t>EDGE FUNCTIONS</a:t>
            </a:r>
            <a:endParaRPr lang="en-US" sz="850" dirty="0"/>
          </a:p>
        </p:txBody>
      </p:sp>
      <p:sp>
        <p:nvSpPr>
          <p:cNvPr id="17" name="Shape 15"/>
          <p:cNvSpPr/>
          <p:nvPr/>
        </p:nvSpPr>
        <p:spPr>
          <a:xfrm>
            <a:off x="2350008" y="3831336"/>
            <a:ext cx="9272016" cy="822960"/>
          </a:xfrm>
          <a:prstGeom prst="roundRect">
            <a:avLst>
              <a:gd name="adj" fmla="val 8889"/>
            </a:avLst>
          </a:prstGeom>
          <a:solidFill>
            <a:srgbClr val="151D12"/>
          </a:solidFill>
          <a:ln w="12700">
            <a:solidFill>
              <a:srgbClr val="26321F"/>
            </a:solidFill>
            <a:prstDash val="solid"/>
          </a:ln>
        </p:spPr>
      </p:sp>
      <p:sp>
        <p:nvSpPr>
          <p:cNvPr id="18" name="Text 16"/>
          <p:cNvSpPr/>
          <p:nvPr/>
        </p:nvSpPr>
        <p:spPr>
          <a:xfrm>
            <a:off x="2532888" y="3922776"/>
            <a:ext cx="8906256" cy="640080"/>
          </a:xfrm>
          <a:prstGeom prst="rect">
            <a:avLst/>
          </a:prstGeom>
          <a:noFill/>
          <a:ln/>
        </p:spPr>
        <p:txBody>
          <a:bodyPr wrap="square" rtlCol="0" anchor="ctr"/>
          <a:lstStyle/>
          <a:p>
            <a:pPr indent="0" marL="0">
              <a:buNone/>
            </a:pPr>
            <a:r>
              <a:rPr lang="en-US" sz="950" dirty="0">
                <a:solidFill>
                  <a:srgbClr val="E9EFE1"/>
                </a:solidFill>
                <a:latin typeface="Consolas" pitchFamily="34" charset="0"/>
                <a:ea typeface="Consolas" pitchFamily="34" charset="-122"/>
                <a:cs typeface="Consolas" pitchFamily="34" charset="-120"/>
              </a:rPr>
              <a:t>analyze-crop</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chat-assistant</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assess-risks</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irrigation-advisor</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today-actions</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recommend-crops</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get-weather</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speak-answer</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sarvam-stt</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whisper-stt</a:t>
            </a:r>
            <a:endParaRPr lang="en-US" sz="950" dirty="0"/>
          </a:p>
        </p:txBody>
      </p:sp>
      <p:sp>
        <p:nvSpPr>
          <p:cNvPr id="19" name="Text 17"/>
          <p:cNvSpPr/>
          <p:nvPr/>
        </p:nvSpPr>
        <p:spPr>
          <a:xfrm>
            <a:off x="5728716" y="4636008"/>
            <a:ext cx="731520" cy="274320"/>
          </a:xfrm>
          <a:prstGeom prst="rect">
            <a:avLst/>
          </a:prstGeom>
          <a:noFill/>
          <a:ln/>
        </p:spPr>
        <p:txBody>
          <a:bodyPr wrap="square" rtlCol="0" anchor="ctr"/>
          <a:lstStyle/>
          <a:p>
            <a:pPr algn="ctr" indent="0" marL="0">
              <a:buNone/>
            </a:pPr>
            <a:r>
              <a:rPr lang="en-US" sz="800" dirty="0">
                <a:solidFill>
                  <a:srgbClr val="6F7D66"/>
                </a:solidFill>
                <a:latin typeface="Segoe UI" pitchFamily="34" charset="0"/>
                <a:ea typeface="Segoe UI" pitchFamily="34" charset="-122"/>
                <a:cs typeface="Segoe UI" pitchFamily="34" charset="-120"/>
              </a:rPr>
              <a:t>▼</a:t>
            </a:r>
            <a:endParaRPr lang="en-US" sz="800" dirty="0"/>
          </a:p>
        </p:txBody>
      </p:sp>
      <p:sp>
        <p:nvSpPr>
          <p:cNvPr id="20" name="Text 18"/>
          <p:cNvSpPr/>
          <p:nvPr/>
        </p:nvSpPr>
        <p:spPr>
          <a:xfrm>
            <a:off x="566928" y="4901184"/>
            <a:ext cx="1600200" cy="777240"/>
          </a:xfrm>
          <a:prstGeom prst="rect">
            <a:avLst/>
          </a:prstGeom>
          <a:noFill/>
          <a:ln/>
        </p:spPr>
        <p:txBody>
          <a:bodyPr wrap="square" rtlCol="0" anchor="ctr"/>
          <a:lstStyle/>
          <a:p>
            <a:pPr algn="r" indent="0" marL="0">
              <a:buNone/>
            </a:pPr>
            <a:r>
              <a:rPr lang="en-US" sz="850" b="1" spc="160" kern="0" dirty="0">
                <a:solidFill>
                  <a:srgbClr val="6F7D66"/>
                </a:solidFill>
                <a:latin typeface="Segoe UI" pitchFamily="34" charset="0"/>
                <a:ea typeface="Segoe UI" pitchFamily="34" charset="-122"/>
                <a:cs typeface="Segoe UI" pitchFamily="34" charset="-120"/>
              </a:rPr>
              <a:t>AI &amp; DATA</a:t>
            </a:r>
            <a:endParaRPr lang="en-US" sz="850" dirty="0"/>
          </a:p>
        </p:txBody>
      </p:sp>
      <p:sp>
        <p:nvSpPr>
          <p:cNvPr id="21" name="Shape 19"/>
          <p:cNvSpPr/>
          <p:nvPr/>
        </p:nvSpPr>
        <p:spPr>
          <a:xfrm>
            <a:off x="2350008" y="4855464"/>
            <a:ext cx="9272016" cy="822960"/>
          </a:xfrm>
          <a:prstGeom prst="roundRect">
            <a:avLst>
              <a:gd name="adj" fmla="val 8889"/>
            </a:avLst>
          </a:prstGeom>
          <a:solidFill>
            <a:srgbClr val="151D12"/>
          </a:solidFill>
          <a:ln w="12700">
            <a:solidFill>
              <a:srgbClr val="26321F"/>
            </a:solidFill>
            <a:prstDash val="solid"/>
          </a:ln>
        </p:spPr>
      </p:sp>
      <p:sp>
        <p:nvSpPr>
          <p:cNvPr id="22" name="Text 20"/>
          <p:cNvSpPr/>
          <p:nvPr/>
        </p:nvSpPr>
        <p:spPr>
          <a:xfrm>
            <a:off x="2532888" y="4946904"/>
            <a:ext cx="8906256" cy="640080"/>
          </a:xfrm>
          <a:prstGeom prst="rect">
            <a:avLst/>
          </a:prstGeom>
          <a:noFill/>
          <a:ln/>
        </p:spPr>
        <p:txBody>
          <a:bodyPr wrap="square" rtlCol="0" anchor="ctr"/>
          <a:lstStyle/>
          <a:p>
            <a:pPr indent="0" marL="0">
              <a:buNone/>
            </a:pPr>
            <a:r>
              <a:rPr lang="en-US" sz="950" b="1" dirty="0">
                <a:solidFill>
                  <a:srgbClr val="DCECB0"/>
                </a:solidFill>
                <a:latin typeface="Consolas" pitchFamily="34" charset="0"/>
                <a:ea typeface="Consolas" pitchFamily="34" charset="-122"/>
                <a:cs typeface="Consolas" pitchFamily="34" charset="-120"/>
              </a:rPr>
              <a:t>Gemini — vision, text, speech</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OpenRouter fallback</a:t>
            </a:r>
            <a:pPr indent="0" marL="0">
              <a:buNone/>
            </a:pPr>
            <a:r>
              <a:rPr lang="en-US" sz="950" dirty="0">
                <a:solidFill>
                  <a:srgbClr val="000000"/>
                </a:solidFill>
                <a:latin typeface="Consolas" pitchFamily="34" charset="0"/>
                <a:ea typeface="Consolas" pitchFamily="34" charset="-122"/>
                <a:cs typeface="Consolas" pitchFamily="34" charset="-120"/>
              </a:rPr>
              <a:t>   </a:t>
            </a:r>
            <a:pPr indent="0" marL="0">
              <a:buNone/>
            </a:pPr>
            <a:r>
              <a:rPr lang="en-US" sz="950" dirty="0">
                <a:solidFill>
                  <a:srgbClr val="E9EFE1"/>
                </a:solidFill>
                <a:latin typeface="Consolas" pitchFamily="34" charset="0"/>
                <a:ea typeface="Consolas" pitchFamily="34" charset="-122"/>
                <a:cs typeface="Consolas" pitchFamily="34" charset="-120"/>
              </a:rPr>
              <a:t>Open-Meteo forecast</a:t>
            </a:r>
            <a:endParaRPr lang="en-US" sz="950" dirty="0"/>
          </a:p>
        </p:txBody>
      </p:sp>
      <p:sp>
        <p:nvSpPr>
          <p:cNvPr id="23" name="Shape 21"/>
          <p:cNvSpPr/>
          <p:nvPr/>
        </p:nvSpPr>
        <p:spPr>
          <a:xfrm>
            <a:off x="566928" y="6053328"/>
            <a:ext cx="41148" cy="365760"/>
          </a:xfrm>
          <a:prstGeom prst="rect">
            <a:avLst/>
          </a:prstGeom>
          <a:solidFill>
            <a:srgbClr val="B4CD56"/>
          </a:solidFill>
          <a:ln/>
        </p:spPr>
      </p:sp>
      <p:sp>
        <p:nvSpPr>
          <p:cNvPr id="24" name="Text 22"/>
          <p:cNvSpPr/>
          <p:nvPr/>
        </p:nvSpPr>
        <p:spPr>
          <a:xfrm>
            <a:off x="731520" y="6053328"/>
            <a:ext cx="10872216" cy="365760"/>
          </a:xfrm>
          <a:prstGeom prst="rect">
            <a:avLst/>
          </a:prstGeom>
          <a:noFill/>
          <a:ln/>
        </p:spPr>
        <p:txBody>
          <a:bodyPr wrap="square" rtlCol="0" anchor="ctr"/>
          <a:lstStyle/>
          <a:p>
            <a:pPr indent="0" marL="0">
              <a:buNone/>
            </a:pPr>
            <a:r>
              <a:rPr lang="en-US" sz="1050" dirty="0">
                <a:solidFill>
                  <a:srgbClr val="9FAC93"/>
                </a:solidFill>
                <a:latin typeface="Segoe UI" pitchFamily="34" charset="0"/>
                <a:ea typeface="Segoe UI" pitchFamily="34" charset="-122"/>
                <a:cs typeface="Segoe UI" pitchFamily="34" charset="-120"/>
              </a:rPr>
              <a:t>Secrets live only in Edge Function env vars. The browser never sees a model key.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Engineering choices</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12 / 14</a:t>
            </a:r>
            <a:endParaRPr lang="en-US" sz="850" dirty="0"/>
          </a:p>
        </p:txBody>
      </p:sp>
      <p:sp>
        <p:nvSpPr>
          <p:cNvPr id="7" name="Text 5"/>
          <p:cNvSpPr/>
          <p:nvPr/>
        </p:nvSpPr>
        <p:spPr>
          <a:xfrm>
            <a:off x="566928" y="960120"/>
            <a:ext cx="11055096" cy="1280160"/>
          </a:xfrm>
          <a:prstGeom prst="rect">
            <a:avLst/>
          </a:prstGeom>
          <a:noFill/>
          <a:ln/>
        </p:spPr>
        <p:txBody>
          <a:bodyPr wrap="square" rtlCol="0" anchor="t"/>
          <a:lstStyle/>
          <a:p>
            <a:pPr indent="0" marL="0">
              <a:lnSpc>
                <a:spcPts val="2760"/>
              </a:lnSpc>
              <a:buNone/>
            </a:pPr>
            <a:r>
              <a:rPr lang="en-US" sz="2400" b="1" dirty="0">
                <a:solidFill>
                  <a:srgbClr val="E9EFE1"/>
                </a:solidFill>
                <a:latin typeface="Segoe UI" pitchFamily="34" charset="0"/>
                <a:ea typeface="Segoe UI" pitchFamily="34" charset="-122"/>
                <a:cs typeface="Segoe UI" pitchFamily="34" charset="-120"/>
              </a:rPr>
              <a:t>AI where it helps. </a:t>
            </a:r>
            <a:pPr indent="0" marL="0">
              <a:lnSpc>
                <a:spcPts val="2760"/>
              </a:lnSpc>
              <a:buNone/>
            </a:pPr>
            <a:r>
              <a:rPr lang="en-US" sz="2400" b="1" dirty="0">
                <a:solidFill>
                  <a:srgbClr val="B4CD56"/>
                </a:solidFill>
                <a:latin typeface="Segoe UI" pitchFamily="34" charset="0"/>
                <a:ea typeface="Segoe UI" pitchFamily="34" charset="-122"/>
                <a:cs typeface="Segoe UI" pitchFamily="34" charset="-120"/>
              </a:rPr>
              <a:t>Deterministic code where it matters.</a:t>
            </a:r>
            <a:endParaRPr lang="en-US" sz="2400" dirty="0"/>
          </a:p>
        </p:txBody>
      </p:sp>
      <p:sp>
        <p:nvSpPr>
          <p:cNvPr id="8" name="Shape 6"/>
          <p:cNvSpPr/>
          <p:nvPr/>
        </p:nvSpPr>
        <p:spPr>
          <a:xfrm>
            <a:off x="566928" y="2286000"/>
            <a:ext cx="5408676" cy="1691640"/>
          </a:xfrm>
          <a:prstGeom prst="roundRect">
            <a:avLst>
              <a:gd name="adj" fmla="val 4865"/>
            </a:avLst>
          </a:prstGeom>
          <a:solidFill>
            <a:srgbClr val="151D12"/>
          </a:solidFill>
          <a:ln w="12700">
            <a:solidFill>
              <a:srgbClr val="26321F"/>
            </a:solidFill>
            <a:prstDash val="solid"/>
          </a:ln>
        </p:spPr>
      </p:sp>
      <p:sp>
        <p:nvSpPr>
          <p:cNvPr id="9" name="Text 7"/>
          <p:cNvSpPr/>
          <p:nvPr/>
        </p:nvSpPr>
        <p:spPr>
          <a:xfrm>
            <a:off x="749808" y="2432304"/>
            <a:ext cx="548640" cy="274320"/>
          </a:xfrm>
          <a:prstGeom prst="rect">
            <a:avLst/>
          </a:prstGeom>
          <a:noFill/>
          <a:ln/>
        </p:spPr>
        <p:txBody>
          <a:bodyPr wrap="square" rtlCol="0" anchor="ctr"/>
          <a:lstStyle/>
          <a:p>
            <a:pPr indent="0" marL="0">
              <a:buNone/>
            </a:pPr>
            <a:r>
              <a:rPr lang="en-US" sz="1150" b="1" dirty="0">
                <a:solidFill>
                  <a:srgbClr val="B4CD56"/>
                </a:solidFill>
                <a:latin typeface="Segoe UI" pitchFamily="34" charset="0"/>
                <a:ea typeface="Segoe UI" pitchFamily="34" charset="-122"/>
                <a:cs typeface="Segoe UI" pitchFamily="34" charset="-120"/>
              </a:rPr>
              <a:t>1</a:t>
            </a:r>
            <a:endParaRPr lang="en-US" sz="1150" dirty="0"/>
          </a:p>
        </p:txBody>
      </p:sp>
      <p:sp>
        <p:nvSpPr>
          <p:cNvPr id="10" name="Text 8"/>
          <p:cNvSpPr/>
          <p:nvPr/>
        </p:nvSpPr>
        <p:spPr>
          <a:xfrm>
            <a:off x="749808" y="2670048"/>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Rules, not guesses</a:t>
            </a:r>
            <a:endParaRPr lang="en-US" sz="1250" dirty="0"/>
          </a:p>
        </p:txBody>
      </p:sp>
      <p:sp>
        <p:nvSpPr>
          <p:cNvPr id="11" name="Text 9"/>
          <p:cNvSpPr/>
          <p:nvPr/>
        </p:nvSpPr>
        <p:spPr>
          <a:xfrm>
            <a:off x="749808" y="2962656"/>
            <a:ext cx="5042916" cy="905256"/>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Growth stage, risk scoring, irrigation and yield are plain TypeScript engines. Same input, same answer — explainable, testable, free.</a:t>
            </a:r>
            <a:endParaRPr lang="en-US" sz="1000" dirty="0"/>
          </a:p>
        </p:txBody>
      </p:sp>
      <p:sp>
        <p:nvSpPr>
          <p:cNvPr id="12" name="Shape 10"/>
          <p:cNvSpPr/>
          <p:nvPr/>
        </p:nvSpPr>
        <p:spPr>
          <a:xfrm>
            <a:off x="6213348" y="2286000"/>
            <a:ext cx="5408676" cy="1691640"/>
          </a:xfrm>
          <a:prstGeom prst="roundRect">
            <a:avLst>
              <a:gd name="adj" fmla="val 4865"/>
            </a:avLst>
          </a:prstGeom>
          <a:solidFill>
            <a:srgbClr val="151D12"/>
          </a:solidFill>
          <a:ln w="12700">
            <a:solidFill>
              <a:srgbClr val="26321F"/>
            </a:solidFill>
            <a:prstDash val="solid"/>
          </a:ln>
        </p:spPr>
      </p:sp>
      <p:sp>
        <p:nvSpPr>
          <p:cNvPr id="13" name="Text 11"/>
          <p:cNvSpPr/>
          <p:nvPr/>
        </p:nvSpPr>
        <p:spPr>
          <a:xfrm>
            <a:off x="6396228" y="2432304"/>
            <a:ext cx="548640" cy="274320"/>
          </a:xfrm>
          <a:prstGeom prst="rect">
            <a:avLst/>
          </a:prstGeom>
          <a:noFill/>
          <a:ln/>
        </p:spPr>
        <p:txBody>
          <a:bodyPr wrap="square" rtlCol="0" anchor="ctr"/>
          <a:lstStyle/>
          <a:p>
            <a:pPr indent="0" marL="0">
              <a:buNone/>
            </a:pPr>
            <a:r>
              <a:rPr lang="en-US" sz="1150" b="1" dirty="0">
                <a:solidFill>
                  <a:srgbClr val="B4CD56"/>
                </a:solidFill>
                <a:latin typeface="Segoe UI" pitchFamily="34" charset="0"/>
                <a:ea typeface="Segoe UI" pitchFamily="34" charset="-122"/>
                <a:cs typeface="Segoe UI" pitchFamily="34" charset="-120"/>
              </a:rPr>
              <a:t>2</a:t>
            </a:r>
            <a:endParaRPr lang="en-US" sz="1150" dirty="0"/>
          </a:p>
        </p:txBody>
      </p:sp>
      <p:sp>
        <p:nvSpPr>
          <p:cNvPr id="14" name="Text 12"/>
          <p:cNvSpPr/>
          <p:nvPr/>
        </p:nvSpPr>
        <p:spPr>
          <a:xfrm>
            <a:off x="6396228" y="2670048"/>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The model only does language</a:t>
            </a:r>
            <a:endParaRPr lang="en-US" sz="1250" dirty="0"/>
          </a:p>
        </p:txBody>
      </p:sp>
      <p:sp>
        <p:nvSpPr>
          <p:cNvPr id="15" name="Text 13"/>
          <p:cNvSpPr/>
          <p:nvPr/>
        </p:nvSpPr>
        <p:spPr>
          <a:xfrm>
            <a:off x="6396228" y="2962656"/>
            <a:ext cx="5042916" cy="905256"/>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Gemini reads the photo and writes the sentence. It never decides the risk score or the watering amount.</a:t>
            </a:r>
            <a:endParaRPr lang="en-US" sz="1000" dirty="0"/>
          </a:p>
        </p:txBody>
      </p:sp>
      <p:sp>
        <p:nvSpPr>
          <p:cNvPr id="16" name="Shape 14"/>
          <p:cNvSpPr/>
          <p:nvPr/>
        </p:nvSpPr>
        <p:spPr>
          <a:xfrm>
            <a:off x="566928" y="4160520"/>
            <a:ext cx="5408676" cy="1691640"/>
          </a:xfrm>
          <a:prstGeom prst="roundRect">
            <a:avLst>
              <a:gd name="adj" fmla="val 4865"/>
            </a:avLst>
          </a:prstGeom>
          <a:solidFill>
            <a:srgbClr val="151D12"/>
          </a:solidFill>
          <a:ln w="12700">
            <a:solidFill>
              <a:srgbClr val="26321F"/>
            </a:solidFill>
            <a:prstDash val="solid"/>
          </a:ln>
        </p:spPr>
      </p:sp>
      <p:sp>
        <p:nvSpPr>
          <p:cNvPr id="17" name="Text 15"/>
          <p:cNvSpPr/>
          <p:nvPr/>
        </p:nvSpPr>
        <p:spPr>
          <a:xfrm>
            <a:off x="749808" y="4306824"/>
            <a:ext cx="548640" cy="274320"/>
          </a:xfrm>
          <a:prstGeom prst="rect">
            <a:avLst/>
          </a:prstGeom>
          <a:noFill/>
          <a:ln/>
        </p:spPr>
        <p:txBody>
          <a:bodyPr wrap="square" rtlCol="0" anchor="ctr"/>
          <a:lstStyle/>
          <a:p>
            <a:pPr indent="0" marL="0">
              <a:buNone/>
            </a:pPr>
            <a:r>
              <a:rPr lang="en-US" sz="1150" b="1" dirty="0">
                <a:solidFill>
                  <a:srgbClr val="B4CD56"/>
                </a:solidFill>
                <a:latin typeface="Segoe UI" pitchFamily="34" charset="0"/>
                <a:ea typeface="Segoe UI" pitchFamily="34" charset="-122"/>
                <a:cs typeface="Segoe UI" pitchFamily="34" charset="-120"/>
              </a:rPr>
              <a:t>3</a:t>
            </a:r>
            <a:endParaRPr lang="en-US" sz="1150" dirty="0"/>
          </a:p>
        </p:txBody>
      </p:sp>
      <p:sp>
        <p:nvSpPr>
          <p:cNvPr id="18" name="Text 16"/>
          <p:cNvSpPr/>
          <p:nvPr/>
        </p:nvSpPr>
        <p:spPr>
          <a:xfrm>
            <a:off x="749808" y="4544568"/>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Language is enforced server-side</a:t>
            </a:r>
            <a:endParaRPr lang="en-US" sz="1250" dirty="0"/>
          </a:p>
        </p:txBody>
      </p:sp>
      <p:sp>
        <p:nvSpPr>
          <p:cNvPr id="19" name="Text 17"/>
          <p:cNvSpPr/>
          <p:nvPr/>
        </p:nvSpPr>
        <p:spPr>
          <a:xfrm>
            <a:off x="749808" y="4837176"/>
            <a:ext cx="5042916" cy="905256"/>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Prompt + schema hints + a script check on every field, with a repair pass if the model drifts back to English.</a:t>
            </a:r>
            <a:endParaRPr lang="en-US" sz="1000" dirty="0"/>
          </a:p>
        </p:txBody>
      </p:sp>
      <p:sp>
        <p:nvSpPr>
          <p:cNvPr id="20" name="Shape 18"/>
          <p:cNvSpPr/>
          <p:nvPr/>
        </p:nvSpPr>
        <p:spPr>
          <a:xfrm>
            <a:off x="6213348" y="4160520"/>
            <a:ext cx="5408676" cy="1691640"/>
          </a:xfrm>
          <a:prstGeom prst="roundRect">
            <a:avLst>
              <a:gd name="adj" fmla="val 4865"/>
            </a:avLst>
          </a:prstGeom>
          <a:solidFill>
            <a:srgbClr val="151D12"/>
          </a:solidFill>
          <a:ln w="12700">
            <a:solidFill>
              <a:srgbClr val="26321F"/>
            </a:solidFill>
            <a:prstDash val="solid"/>
          </a:ln>
        </p:spPr>
      </p:sp>
      <p:sp>
        <p:nvSpPr>
          <p:cNvPr id="21" name="Text 19"/>
          <p:cNvSpPr/>
          <p:nvPr/>
        </p:nvSpPr>
        <p:spPr>
          <a:xfrm>
            <a:off x="6396228" y="4306824"/>
            <a:ext cx="548640" cy="274320"/>
          </a:xfrm>
          <a:prstGeom prst="rect">
            <a:avLst/>
          </a:prstGeom>
          <a:noFill/>
          <a:ln/>
        </p:spPr>
        <p:txBody>
          <a:bodyPr wrap="square" rtlCol="0" anchor="ctr"/>
          <a:lstStyle/>
          <a:p>
            <a:pPr indent="0" marL="0">
              <a:buNone/>
            </a:pPr>
            <a:r>
              <a:rPr lang="en-US" sz="1150" b="1" dirty="0">
                <a:solidFill>
                  <a:srgbClr val="B4CD56"/>
                </a:solidFill>
                <a:latin typeface="Segoe UI" pitchFamily="34" charset="0"/>
                <a:ea typeface="Segoe UI" pitchFamily="34" charset="-122"/>
                <a:cs typeface="Segoe UI" pitchFamily="34" charset="-120"/>
              </a:rPr>
              <a:t>4</a:t>
            </a:r>
            <a:endParaRPr lang="en-US" sz="1150" dirty="0"/>
          </a:p>
        </p:txBody>
      </p:sp>
      <p:sp>
        <p:nvSpPr>
          <p:cNvPr id="22" name="Text 20"/>
          <p:cNvSpPr/>
          <p:nvPr/>
        </p:nvSpPr>
        <p:spPr>
          <a:xfrm>
            <a:off x="6396228" y="4544568"/>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Degrade, don't fail</a:t>
            </a:r>
            <a:endParaRPr lang="en-US" sz="1250" dirty="0"/>
          </a:p>
        </p:txBody>
      </p:sp>
      <p:sp>
        <p:nvSpPr>
          <p:cNvPr id="23" name="Text 21"/>
          <p:cNvSpPr/>
          <p:nvPr/>
        </p:nvSpPr>
        <p:spPr>
          <a:xfrm>
            <a:off x="6396228" y="4837176"/>
            <a:ext cx="5042916" cy="905256"/>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Rate-limited model → second provider. Weather source down → cached view. Missing data → the UI says so.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Quality &amp; security</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13 / 14</a:t>
            </a:r>
            <a:endParaRPr lang="en-US" sz="850" dirty="0"/>
          </a:p>
        </p:txBody>
      </p:sp>
      <p:sp>
        <p:nvSpPr>
          <p:cNvPr id="7" name="Text 5"/>
          <p:cNvSpPr/>
          <p:nvPr/>
        </p:nvSpPr>
        <p:spPr>
          <a:xfrm>
            <a:off x="566928" y="987552"/>
            <a:ext cx="11055096" cy="640080"/>
          </a:xfrm>
          <a:prstGeom prst="rect">
            <a:avLst/>
          </a:prstGeom>
          <a:noFill/>
          <a:ln/>
        </p:spPr>
        <p:txBody>
          <a:bodyPr wrap="square" rtlCol="0" anchor="t"/>
          <a:lstStyle/>
          <a:p>
            <a:pPr indent="0" marL="0">
              <a:lnSpc>
                <a:spcPts val="2990"/>
              </a:lnSpc>
              <a:buNone/>
            </a:pPr>
            <a:r>
              <a:rPr lang="en-US" sz="2600" b="1" dirty="0">
                <a:solidFill>
                  <a:srgbClr val="E9EFE1"/>
                </a:solidFill>
                <a:latin typeface="Segoe UI" pitchFamily="34" charset="0"/>
                <a:ea typeface="Segoe UI" pitchFamily="34" charset="-122"/>
                <a:cs typeface="Segoe UI" pitchFamily="34" charset="-120"/>
              </a:rPr>
              <a:t>Boring on purpose.</a:t>
            </a:r>
            <a:endParaRPr lang="en-US" sz="2600" dirty="0"/>
          </a:p>
        </p:txBody>
      </p:sp>
      <p:sp>
        <p:nvSpPr>
          <p:cNvPr id="8" name="Shape 6"/>
          <p:cNvSpPr/>
          <p:nvPr/>
        </p:nvSpPr>
        <p:spPr>
          <a:xfrm>
            <a:off x="566928" y="1965960"/>
            <a:ext cx="2619756" cy="1188720"/>
          </a:xfrm>
          <a:prstGeom prst="roundRect">
            <a:avLst>
              <a:gd name="adj" fmla="val 6923"/>
            </a:avLst>
          </a:prstGeom>
          <a:solidFill>
            <a:srgbClr val="151D12"/>
          </a:solidFill>
          <a:ln w="12700">
            <a:solidFill>
              <a:srgbClr val="26321F"/>
            </a:solidFill>
            <a:prstDash val="solid"/>
          </a:ln>
        </p:spPr>
      </p:sp>
      <p:sp>
        <p:nvSpPr>
          <p:cNvPr id="9" name="Text 7"/>
          <p:cNvSpPr/>
          <p:nvPr/>
        </p:nvSpPr>
        <p:spPr>
          <a:xfrm>
            <a:off x="731520" y="209397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76</a:t>
            </a:r>
            <a:endParaRPr lang="en-US" sz="2100" dirty="0"/>
          </a:p>
        </p:txBody>
      </p:sp>
      <p:sp>
        <p:nvSpPr>
          <p:cNvPr id="10" name="Text 8"/>
          <p:cNvSpPr/>
          <p:nvPr/>
        </p:nvSpPr>
        <p:spPr>
          <a:xfrm>
            <a:off x="731520" y="2569464"/>
            <a:ext cx="2290572" cy="49377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automated tests</a:t>
            </a:r>
            <a:endParaRPr lang="en-US" sz="900" dirty="0"/>
          </a:p>
        </p:txBody>
      </p:sp>
      <p:sp>
        <p:nvSpPr>
          <p:cNvPr id="11" name="Shape 9"/>
          <p:cNvSpPr/>
          <p:nvPr/>
        </p:nvSpPr>
        <p:spPr>
          <a:xfrm>
            <a:off x="3378708" y="1965960"/>
            <a:ext cx="2619756" cy="1188720"/>
          </a:xfrm>
          <a:prstGeom prst="roundRect">
            <a:avLst>
              <a:gd name="adj" fmla="val 6923"/>
            </a:avLst>
          </a:prstGeom>
          <a:solidFill>
            <a:srgbClr val="151D12"/>
          </a:solidFill>
          <a:ln w="12700">
            <a:solidFill>
              <a:srgbClr val="26321F"/>
            </a:solidFill>
            <a:prstDash val="solid"/>
          </a:ln>
        </p:spPr>
      </p:sp>
      <p:sp>
        <p:nvSpPr>
          <p:cNvPr id="12" name="Text 10"/>
          <p:cNvSpPr/>
          <p:nvPr/>
        </p:nvSpPr>
        <p:spPr>
          <a:xfrm>
            <a:off x="3543300" y="209397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100%</a:t>
            </a:r>
            <a:endParaRPr lang="en-US" sz="2100" dirty="0"/>
          </a:p>
        </p:txBody>
      </p:sp>
      <p:sp>
        <p:nvSpPr>
          <p:cNvPr id="13" name="Text 11"/>
          <p:cNvSpPr/>
          <p:nvPr/>
        </p:nvSpPr>
        <p:spPr>
          <a:xfrm>
            <a:off x="3543300" y="2569464"/>
            <a:ext cx="2290572" cy="49377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tables behind RLS</a:t>
            </a:r>
            <a:endParaRPr lang="en-US" sz="900" dirty="0"/>
          </a:p>
        </p:txBody>
      </p:sp>
      <p:sp>
        <p:nvSpPr>
          <p:cNvPr id="14" name="Shape 12"/>
          <p:cNvSpPr/>
          <p:nvPr/>
        </p:nvSpPr>
        <p:spPr>
          <a:xfrm>
            <a:off x="6190488" y="1965960"/>
            <a:ext cx="2619756" cy="1188720"/>
          </a:xfrm>
          <a:prstGeom prst="roundRect">
            <a:avLst>
              <a:gd name="adj" fmla="val 6923"/>
            </a:avLst>
          </a:prstGeom>
          <a:solidFill>
            <a:srgbClr val="151D12"/>
          </a:solidFill>
          <a:ln w="12700">
            <a:solidFill>
              <a:srgbClr val="26321F"/>
            </a:solidFill>
            <a:prstDash val="solid"/>
          </a:ln>
        </p:spPr>
      </p:sp>
      <p:sp>
        <p:nvSpPr>
          <p:cNvPr id="15" name="Text 13"/>
          <p:cNvSpPr/>
          <p:nvPr/>
        </p:nvSpPr>
        <p:spPr>
          <a:xfrm>
            <a:off x="6355080" y="209397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10</a:t>
            </a:r>
            <a:endParaRPr lang="en-US" sz="2100" dirty="0"/>
          </a:p>
        </p:txBody>
      </p:sp>
      <p:sp>
        <p:nvSpPr>
          <p:cNvPr id="16" name="Text 14"/>
          <p:cNvSpPr/>
          <p:nvPr/>
        </p:nvSpPr>
        <p:spPr>
          <a:xfrm>
            <a:off x="6355080" y="2569464"/>
            <a:ext cx="2290572" cy="49377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JWT-verified functions</a:t>
            </a:r>
            <a:endParaRPr lang="en-US" sz="900" dirty="0"/>
          </a:p>
        </p:txBody>
      </p:sp>
      <p:sp>
        <p:nvSpPr>
          <p:cNvPr id="17" name="Shape 15"/>
          <p:cNvSpPr/>
          <p:nvPr/>
        </p:nvSpPr>
        <p:spPr>
          <a:xfrm>
            <a:off x="9002268" y="1965960"/>
            <a:ext cx="2619756" cy="1188720"/>
          </a:xfrm>
          <a:prstGeom prst="roundRect">
            <a:avLst>
              <a:gd name="adj" fmla="val 6923"/>
            </a:avLst>
          </a:prstGeom>
          <a:solidFill>
            <a:srgbClr val="151D12"/>
          </a:solidFill>
          <a:ln w="12700">
            <a:solidFill>
              <a:srgbClr val="26321F"/>
            </a:solidFill>
            <a:prstDash val="solid"/>
          </a:ln>
        </p:spPr>
      </p:sp>
      <p:sp>
        <p:nvSpPr>
          <p:cNvPr id="18" name="Text 16"/>
          <p:cNvSpPr/>
          <p:nvPr/>
        </p:nvSpPr>
        <p:spPr>
          <a:xfrm>
            <a:off x="9166860" y="2093976"/>
            <a:ext cx="2290572" cy="475488"/>
          </a:xfrm>
          <a:prstGeom prst="rect">
            <a:avLst/>
          </a:prstGeom>
          <a:noFill/>
          <a:ln/>
        </p:spPr>
        <p:txBody>
          <a:bodyPr wrap="square" rtlCol="0" anchor="ctr"/>
          <a:lstStyle/>
          <a:p>
            <a:pPr indent="0" marL="0">
              <a:buNone/>
            </a:pPr>
            <a:r>
              <a:rPr lang="en-US" sz="2100" b="1" dirty="0">
                <a:solidFill>
                  <a:srgbClr val="B4CD56"/>
                </a:solidFill>
                <a:latin typeface="Segoe UI" pitchFamily="34" charset="0"/>
                <a:ea typeface="Segoe UI" pitchFamily="34" charset="-122"/>
                <a:cs typeface="Segoe UI" pitchFamily="34" charset="-120"/>
              </a:rPr>
              <a:t>0</a:t>
            </a:r>
            <a:endParaRPr lang="en-US" sz="2100" dirty="0"/>
          </a:p>
        </p:txBody>
      </p:sp>
      <p:sp>
        <p:nvSpPr>
          <p:cNvPr id="19" name="Text 17"/>
          <p:cNvSpPr/>
          <p:nvPr/>
        </p:nvSpPr>
        <p:spPr>
          <a:xfrm>
            <a:off x="9166860" y="2569464"/>
            <a:ext cx="2290572" cy="493776"/>
          </a:xfrm>
          <a:prstGeom prst="rect">
            <a:avLst/>
          </a:prstGeom>
          <a:noFill/>
          <a:ln/>
        </p:spPr>
        <p:txBody>
          <a:bodyPr wrap="square" rtlCol="0" anchor="t"/>
          <a:lstStyle/>
          <a:p>
            <a:pPr indent="0" marL="0">
              <a:lnSpc>
                <a:spcPts val="1150"/>
              </a:lnSpc>
              <a:buNone/>
            </a:pPr>
            <a:r>
              <a:rPr lang="en-US" sz="900" dirty="0">
                <a:solidFill>
                  <a:srgbClr val="9FAC93"/>
                </a:solidFill>
                <a:latin typeface="Segoe UI" pitchFamily="34" charset="0"/>
                <a:ea typeface="Segoe UI" pitchFamily="34" charset="-122"/>
                <a:cs typeface="Segoe UI" pitchFamily="34" charset="-120"/>
              </a:rPr>
              <a:t>secrets shipped to users</a:t>
            </a:r>
            <a:endParaRPr lang="en-US" sz="900" dirty="0"/>
          </a:p>
        </p:txBody>
      </p:sp>
      <p:sp>
        <p:nvSpPr>
          <p:cNvPr id="20" name="Text 18"/>
          <p:cNvSpPr/>
          <p:nvPr/>
        </p:nvSpPr>
        <p:spPr>
          <a:xfrm>
            <a:off x="566928" y="3611880"/>
            <a:ext cx="10872216" cy="2377440"/>
          </a:xfrm>
          <a:prstGeom prst="rect">
            <a:avLst/>
          </a:prstGeom>
          <a:noFill/>
          <a:ln/>
        </p:spPr>
        <p:txBody>
          <a:bodyPr wrap="square" rtlCol="0" anchor="t"/>
          <a:lstStyle/>
          <a:p>
            <a:pPr marL="203200" indent="-203200">
              <a:lnSpc>
                <a:spcPts val="3000"/>
              </a:lnSpc>
              <a:buSzPct val="100000"/>
              <a:buChar char="•"/>
            </a:pPr>
            <a:r>
              <a:rPr lang="en-US" sz="1150" dirty="0">
                <a:solidFill>
                  <a:srgbClr val="E9EFE1"/>
                </a:solidFill>
                <a:latin typeface="Segoe UI" pitchFamily="34" charset="0"/>
                <a:ea typeface="Segoe UI" pitchFamily="34" charset="-122"/>
                <a:cs typeface="Segoe UI" pitchFamily="34" charset="-120"/>
              </a:rPr>
              <a:t>Every table is row-level secured — one farmer never sees another's farm
</a:t>
            </a:r>
            <a:pPr indent="0" marL="0">
              <a:lnSpc>
                <a:spcPts val="3000"/>
              </a:lnSpc>
              <a:buNone/>
            </a:pPr>
            <a:r>
              <a:rPr lang="en-US" sz="1150" dirty="0">
                <a:solidFill>
                  <a:srgbClr val="E9EFE1"/>
                </a:solidFill>
                <a:latin typeface="Segoe UI" pitchFamily="34" charset="0"/>
                <a:ea typeface="Segoe UI" pitchFamily="34" charset="-122"/>
                <a:cs typeface="Segoe UI" pitchFamily="34" charset="-120"/>
              </a:rPr>
              <a:t>Function calls are JWT-verified, with an explicit CORS allow-list
</a:t>
            </a:r>
            <a:pPr indent="0" marL="0">
              <a:lnSpc>
                <a:spcPts val="3000"/>
              </a:lnSpc>
              <a:buNone/>
            </a:pPr>
            <a:r>
              <a:rPr lang="en-US" sz="1150" dirty="0">
                <a:solidFill>
                  <a:srgbClr val="E9EFE1"/>
                </a:solidFill>
                <a:latin typeface="Segoe UI" pitchFamily="34" charset="0"/>
                <a:ea typeface="Segoe UI" pitchFamily="34" charset="-122"/>
                <a:cs typeface="Segoe UI" pitchFamily="34" charset="-120"/>
              </a:rPr>
              <a:t>Typecheck and production build gate every change; tests cover engines, i18n parity and voice
</a:t>
            </a:r>
            <a:pPr indent="0" marL="0">
              <a:lnSpc>
                <a:spcPts val="3000"/>
              </a:lnSpc>
              <a:buNone/>
            </a:pPr>
            <a:r>
              <a:rPr lang="en-US" sz="1150" dirty="0">
                <a:solidFill>
                  <a:srgbClr val="E9EFE1"/>
                </a:solidFill>
                <a:latin typeface="Segoe UI" pitchFamily="34" charset="0"/>
                <a:ea typeface="Segoe UI" pitchFamily="34" charset="-122"/>
                <a:cs typeface="Segoe UI" pitchFamily="34" charset="-120"/>
              </a:rPr>
              <a:t>No placeholder numbers in the UI: when data is missing, it says so
</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60F"/>
        </a:solidFill>
      </p:bgPr>
    </p:bg>
    <p:spTree>
      <p:nvGrpSpPr>
        <p:cNvPr id="1" name=""/>
        <p:cNvGrpSpPr/>
        <p:nvPr/>
      </p:nvGrpSpPr>
      <p:grpSpPr>
        <a:xfrm>
          <a:off x="0" y="0"/>
          <a:ext cx="0" cy="0"/>
          <a:chOff x="0" y="0"/>
          <a:chExt cx="0" cy="0"/>
        </a:xfrm>
      </p:grpSpPr>
      <p:sp>
        <p:nvSpPr>
          <p:cNvPr id="2" name="Shape 0"/>
          <p:cNvSpPr/>
          <p:nvPr/>
        </p:nvSpPr>
        <p:spPr>
          <a:xfrm>
            <a:off x="566928" y="310896"/>
            <a:ext cx="310896" cy="310896"/>
          </a:xfrm>
          <a:prstGeom prst="roundRect">
            <a:avLst>
              <a:gd name="adj" fmla="val 20588"/>
            </a:avLst>
          </a:prstGeom>
          <a:solidFill>
            <a:srgbClr val="3E7C4F"/>
          </a:solidFill>
          <a:ln/>
        </p:spPr>
      </p:sp>
      <p:sp>
        <p:nvSpPr>
          <p:cNvPr id="3" name="Text 1"/>
          <p:cNvSpPr/>
          <p:nvPr/>
        </p:nvSpPr>
        <p:spPr>
          <a:xfrm>
            <a:off x="950976" y="274320"/>
            <a:ext cx="2194560" cy="38404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Kissan AI</a:t>
            </a:r>
            <a:endParaRPr lang="en-US" sz="1250" dirty="0"/>
          </a:p>
        </p:txBody>
      </p:sp>
      <p:sp>
        <p:nvSpPr>
          <p:cNvPr id="4" name="Text 2"/>
          <p:cNvSpPr/>
          <p:nvPr/>
        </p:nvSpPr>
        <p:spPr>
          <a:xfrm>
            <a:off x="7415784" y="329184"/>
            <a:ext cx="4206240" cy="274320"/>
          </a:xfrm>
          <a:prstGeom prst="rect">
            <a:avLst/>
          </a:prstGeom>
          <a:noFill/>
          <a:ln/>
        </p:spPr>
        <p:txBody>
          <a:bodyPr wrap="square" rtlCol="0" anchor="ctr"/>
          <a:lstStyle/>
          <a:p>
            <a:pPr algn="r" indent="0" marL="0">
              <a:buNone/>
            </a:pPr>
            <a:r>
              <a:rPr lang="en-US" sz="900" b="1" spc="220" kern="0" dirty="0">
                <a:solidFill>
                  <a:srgbClr val="6F7D66"/>
                </a:solidFill>
                <a:latin typeface="Segoe UI" pitchFamily="34" charset="0"/>
                <a:ea typeface="Segoe UI" pitchFamily="34" charset="-122"/>
                <a:cs typeface="Segoe UI" pitchFamily="34" charset="-120"/>
              </a:rPr>
              <a:t>Impact · Roadmap · Ask</a:t>
            </a:r>
            <a:endParaRPr lang="en-US" sz="900" dirty="0"/>
          </a:p>
        </p:txBody>
      </p:sp>
      <p:sp>
        <p:nvSpPr>
          <p:cNvPr id="5" name="Text 3"/>
          <p:cNvSpPr/>
          <p:nvPr/>
        </p:nvSpPr>
        <p:spPr>
          <a:xfrm>
            <a:off x="566928" y="6455664"/>
            <a:ext cx="2926080" cy="237744"/>
          </a:xfrm>
          <a:prstGeom prst="rect">
            <a:avLst/>
          </a:prstGeom>
          <a:noFill/>
          <a:ln/>
        </p:spPr>
        <p:txBody>
          <a:bodyPr wrap="square" rtlCol="0" anchor="ctr"/>
          <a:lstStyle/>
          <a:p>
            <a:pPr indent="0" marL="0">
              <a:buNone/>
            </a:pPr>
            <a:r>
              <a:rPr lang="en-US" sz="850" dirty="0">
                <a:solidFill>
                  <a:srgbClr val="6F7D66"/>
                </a:solidFill>
                <a:latin typeface="Segoe UI" pitchFamily="34" charset="0"/>
                <a:ea typeface="Segoe UI" pitchFamily="34" charset="-122"/>
                <a:cs typeface="Segoe UI" pitchFamily="34" charset="-120"/>
              </a:rPr>
              <a:t>Kissan AI · pitch</a:t>
            </a:r>
            <a:endParaRPr lang="en-US" sz="850" dirty="0"/>
          </a:p>
        </p:txBody>
      </p:sp>
      <p:sp>
        <p:nvSpPr>
          <p:cNvPr id="6" name="Text 4"/>
          <p:cNvSpPr/>
          <p:nvPr/>
        </p:nvSpPr>
        <p:spPr>
          <a:xfrm>
            <a:off x="10616184" y="6455664"/>
            <a:ext cx="1005840" cy="237744"/>
          </a:xfrm>
          <a:prstGeom prst="rect">
            <a:avLst/>
          </a:prstGeom>
          <a:noFill/>
          <a:ln/>
        </p:spPr>
        <p:txBody>
          <a:bodyPr wrap="square" rtlCol="0" anchor="ctr"/>
          <a:lstStyle/>
          <a:p>
            <a:pPr algn="r" indent="0" marL="0">
              <a:buNone/>
            </a:pPr>
            <a:r>
              <a:rPr lang="en-US" sz="850" dirty="0">
                <a:solidFill>
                  <a:srgbClr val="6F7D66"/>
                </a:solidFill>
                <a:latin typeface="Segoe UI" pitchFamily="34" charset="0"/>
                <a:ea typeface="Segoe UI" pitchFamily="34" charset="-122"/>
                <a:cs typeface="Segoe UI" pitchFamily="34" charset="-120"/>
              </a:rPr>
              <a:t>14 / 14</a:t>
            </a:r>
            <a:endParaRPr lang="en-US" sz="850" dirty="0"/>
          </a:p>
        </p:txBody>
      </p:sp>
      <p:sp>
        <p:nvSpPr>
          <p:cNvPr id="7" name="Text 5"/>
          <p:cNvSpPr/>
          <p:nvPr/>
        </p:nvSpPr>
        <p:spPr>
          <a:xfrm>
            <a:off x="566928" y="960120"/>
            <a:ext cx="11055096" cy="1371600"/>
          </a:xfrm>
          <a:prstGeom prst="rect">
            <a:avLst/>
          </a:prstGeom>
          <a:noFill/>
          <a:ln/>
        </p:spPr>
        <p:txBody>
          <a:bodyPr wrap="square" rtlCol="0" anchor="t"/>
          <a:lstStyle/>
          <a:p>
            <a:pPr indent="0" marL="0">
              <a:lnSpc>
                <a:spcPts val="2990"/>
              </a:lnSpc>
              <a:buNone/>
            </a:pPr>
            <a:r>
              <a:rPr lang="en-US" sz="2600" b="1" dirty="0">
                <a:solidFill>
                  <a:srgbClr val="E9EFE1"/>
                </a:solidFill>
                <a:latin typeface="Segoe UI" pitchFamily="34" charset="0"/>
                <a:ea typeface="Segoe UI" pitchFamily="34" charset="-122"/>
                <a:cs typeface="Segoe UI" pitchFamily="34" charset="-120"/>
              </a:rPr>
              <a:t>Built and shipped.
</a:t>
            </a:r>
            <a:pPr indent="0" marL="0">
              <a:lnSpc>
                <a:spcPts val="2990"/>
              </a:lnSpc>
              <a:buNone/>
            </a:pPr>
            <a:r>
              <a:rPr lang="en-US" sz="2600" b="1" dirty="0">
                <a:solidFill>
                  <a:srgbClr val="B4CD56"/>
                </a:solidFill>
                <a:latin typeface="Segoe UI" pitchFamily="34" charset="0"/>
                <a:ea typeface="Segoe UI" pitchFamily="34" charset="-122"/>
                <a:cs typeface="Segoe UI" pitchFamily="34" charset="-120"/>
              </a:rPr>
              <a:t>Now it needs farmers.</a:t>
            </a:r>
            <a:endParaRPr lang="en-US" sz="2600" dirty="0"/>
          </a:p>
        </p:txBody>
      </p:sp>
      <p:sp>
        <p:nvSpPr>
          <p:cNvPr id="8" name="Shape 6"/>
          <p:cNvSpPr/>
          <p:nvPr/>
        </p:nvSpPr>
        <p:spPr>
          <a:xfrm>
            <a:off x="566928" y="2377440"/>
            <a:ext cx="3587496" cy="1325880"/>
          </a:xfrm>
          <a:prstGeom prst="roundRect">
            <a:avLst>
              <a:gd name="adj" fmla="val 6207"/>
            </a:avLst>
          </a:prstGeom>
          <a:solidFill>
            <a:srgbClr val="151D12"/>
          </a:solidFill>
          <a:ln w="12700">
            <a:solidFill>
              <a:srgbClr val="26321F"/>
            </a:solidFill>
            <a:prstDash val="solid"/>
          </a:ln>
        </p:spPr>
      </p:sp>
      <p:sp>
        <p:nvSpPr>
          <p:cNvPr id="9" name="Text 7"/>
          <p:cNvSpPr/>
          <p:nvPr/>
        </p:nvSpPr>
        <p:spPr>
          <a:xfrm>
            <a:off x="749808" y="252374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Next: reach</a:t>
            </a:r>
            <a:endParaRPr lang="en-US" sz="1250" dirty="0"/>
          </a:p>
        </p:txBody>
      </p:sp>
      <p:sp>
        <p:nvSpPr>
          <p:cNvPr id="10" name="Text 8"/>
          <p:cNvSpPr/>
          <p:nvPr/>
        </p:nvSpPr>
        <p:spPr>
          <a:xfrm>
            <a:off x="749808" y="2871216"/>
            <a:ext cx="3221736" cy="75895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SMS and IVR for feature phones — no smartphone, no data plan required.</a:t>
            </a:r>
            <a:endParaRPr lang="en-US" sz="1000" dirty="0"/>
          </a:p>
        </p:txBody>
      </p:sp>
      <p:sp>
        <p:nvSpPr>
          <p:cNvPr id="11" name="Shape 9"/>
          <p:cNvSpPr/>
          <p:nvPr/>
        </p:nvSpPr>
        <p:spPr>
          <a:xfrm>
            <a:off x="4300728" y="2377440"/>
            <a:ext cx="3587496" cy="1325880"/>
          </a:xfrm>
          <a:prstGeom prst="roundRect">
            <a:avLst>
              <a:gd name="adj" fmla="val 6207"/>
            </a:avLst>
          </a:prstGeom>
          <a:solidFill>
            <a:srgbClr val="151D12"/>
          </a:solidFill>
          <a:ln w="12700">
            <a:solidFill>
              <a:srgbClr val="26321F"/>
            </a:solidFill>
            <a:prstDash val="solid"/>
          </a:ln>
        </p:spPr>
      </p:sp>
      <p:sp>
        <p:nvSpPr>
          <p:cNvPr id="12" name="Text 10"/>
          <p:cNvSpPr/>
          <p:nvPr/>
        </p:nvSpPr>
        <p:spPr>
          <a:xfrm>
            <a:off x="4483608" y="252374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Next: offline</a:t>
            </a:r>
            <a:endParaRPr lang="en-US" sz="1250" dirty="0"/>
          </a:p>
        </p:txBody>
      </p:sp>
      <p:sp>
        <p:nvSpPr>
          <p:cNvPr id="13" name="Text 11"/>
          <p:cNvSpPr/>
          <p:nvPr/>
        </p:nvSpPr>
        <p:spPr>
          <a:xfrm>
            <a:off x="4483608" y="2871216"/>
            <a:ext cx="3221736" cy="75895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Cache today's advice and the crop calendar so the field has no dead zones.</a:t>
            </a:r>
            <a:endParaRPr lang="en-US" sz="1000" dirty="0"/>
          </a:p>
        </p:txBody>
      </p:sp>
      <p:sp>
        <p:nvSpPr>
          <p:cNvPr id="14" name="Shape 12"/>
          <p:cNvSpPr/>
          <p:nvPr/>
        </p:nvSpPr>
        <p:spPr>
          <a:xfrm>
            <a:off x="8034528" y="2377440"/>
            <a:ext cx="3587496" cy="1325880"/>
          </a:xfrm>
          <a:prstGeom prst="roundRect">
            <a:avLst>
              <a:gd name="adj" fmla="val 6207"/>
            </a:avLst>
          </a:prstGeom>
          <a:solidFill>
            <a:srgbClr val="151D12"/>
          </a:solidFill>
          <a:ln w="12700">
            <a:solidFill>
              <a:srgbClr val="26321F"/>
            </a:solidFill>
            <a:prstDash val="solid"/>
          </a:ln>
        </p:spPr>
      </p:sp>
      <p:sp>
        <p:nvSpPr>
          <p:cNvPr id="15" name="Text 13"/>
          <p:cNvSpPr/>
          <p:nvPr/>
        </p:nvSpPr>
        <p:spPr>
          <a:xfrm>
            <a:off x="8217408" y="2523744"/>
            <a:ext cx="322173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Next: trust</a:t>
            </a:r>
            <a:endParaRPr lang="en-US" sz="1250" dirty="0"/>
          </a:p>
        </p:txBody>
      </p:sp>
      <p:sp>
        <p:nvSpPr>
          <p:cNvPr id="16" name="Text 14"/>
          <p:cNvSpPr/>
          <p:nvPr/>
        </p:nvSpPr>
        <p:spPr>
          <a:xfrm>
            <a:off x="8217408" y="2871216"/>
            <a:ext cx="3221736" cy="75895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An agronomist review loop that audits AI diagnoses and feeds corrections back.</a:t>
            </a:r>
            <a:endParaRPr lang="en-US" sz="1000" dirty="0"/>
          </a:p>
        </p:txBody>
      </p:sp>
      <p:sp>
        <p:nvSpPr>
          <p:cNvPr id="17" name="Shape 15"/>
          <p:cNvSpPr/>
          <p:nvPr/>
        </p:nvSpPr>
        <p:spPr>
          <a:xfrm>
            <a:off x="566928" y="3977640"/>
            <a:ext cx="5408676" cy="1371600"/>
          </a:xfrm>
          <a:prstGeom prst="roundRect">
            <a:avLst>
              <a:gd name="adj" fmla="val 6000"/>
            </a:avLst>
          </a:prstGeom>
          <a:solidFill>
            <a:srgbClr val="24300F"/>
          </a:solidFill>
          <a:ln w="12700">
            <a:solidFill>
              <a:srgbClr val="3C5220"/>
            </a:solidFill>
            <a:prstDash val="solid"/>
          </a:ln>
        </p:spPr>
      </p:sp>
      <p:sp>
        <p:nvSpPr>
          <p:cNvPr id="18" name="Text 16"/>
          <p:cNvSpPr/>
          <p:nvPr/>
        </p:nvSpPr>
        <p:spPr>
          <a:xfrm>
            <a:off x="749808" y="412394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The ask</a:t>
            </a:r>
            <a:endParaRPr lang="en-US" sz="1250" dirty="0"/>
          </a:p>
        </p:txBody>
      </p:sp>
      <p:sp>
        <p:nvSpPr>
          <p:cNvPr id="19" name="Text 17"/>
          <p:cNvSpPr/>
          <p:nvPr/>
        </p:nvSpPr>
        <p:spPr>
          <a:xfrm>
            <a:off x="749808" y="4471416"/>
            <a:ext cx="5042916" cy="80467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A pilot with 25–50 farmers this season, and mentorship on turning the prototype into a service they keep using after harvest.</a:t>
            </a:r>
            <a:endParaRPr lang="en-US" sz="1000" dirty="0"/>
          </a:p>
        </p:txBody>
      </p:sp>
      <p:sp>
        <p:nvSpPr>
          <p:cNvPr id="20" name="Shape 18"/>
          <p:cNvSpPr/>
          <p:nvPr/>
        </p:nvSpPr>
        <p:spPr>
          <a:xfrm>
            <a:off x="6213348" y="3977640"/>
            <a:ext cx="5408676" cy="1371600"/>
          </a:xfrm>
          <a:prstGeom prst="roundRect">
            <a:avLst>
              <a:gd name="adj" fmla="val 6000"/>
            </a:avLst>
          </a:prstGeom>
          <a:solidFill>
            <a:srgbClr val="151D12"/>
          </a:solidFill>
          <a:ln w="12700">
            <a:solidFill>
              <a:srgbClr val="26321F"/>
            </a:solidFill>
            <a:prstDash val="solid"/>
          </a:ln>
        </p:spPr>
      </p:sp>
      <p:sp>
        <p:nvSpPr>
          <p:cNvPr id="21" name="Text 19"/>
          <p:cNvSpPr/>
          <p:nvPr/>
        </p:nvSpPr>
        <p:spPr>
          <a:xfrm>
            <a:off x="6396228" y="4123944"/>
            <a:ext cx="5042916" cy="292608"/>
          </a:xfrm>
          <a:prstGeom prst="rect">
            <a:avLst/>
          </a:prstGeom>
          <a:noFill/>
          <a:ln/>
        </p:spPr>
        <p:txBody>
          <a:bodyPr wrap="square" rtlCol="0" anchor="ctr"/>
          <a:lstStyle/>
          <a:p>
            <a:pPr indent="0" marL="0">
              <a:buNone/>
            </a:pPr>
            <a:r>
              <a:rPr lang="en-US" sz="1250" b="1" dirty="0">
                <a:solidFill>
                  <a:srgbClr val="E9EFE1"/>
                </a:solidFill>
                <a:latin typeface="Segoe UI" pitchFamily="34" charset="0"/>
                <a:ea typeface="Segoe UI" pitchFamily="34" charset="-122"/>
                <a:cs typeface="Segoe UI" pitchFamily="34" charset="-120"/>
              </a:rPr>
              <a:t>Why it can work</a:t>
            </a:r>
            <a:endParaRPr lang="en-US" sz="1250" dirty="0"/>
          </a:p>
        </p:txBody>
      </p:sp>
      <p:sp>
        <p:nvSpPr>
          <p:cNvPr id="22" name="Text 20"/>
          <p:cNvSpPr/>
          <p:nvPr/>
        </p:nvSpPr>
        <p:spPr>
          <a:xfrm>
            <a:off x="6396228" y="4471416"/>
            <a:ext cx="5042916" cy="804672"/>
          </a:xfrm>
          <a:prstGeom prst="rect">
            <a:avLst/>
          </a:prstGeom>
          <a:noFill/>
          <a:ln/>
        </p:spPr>
        <p:txBody>
          <a:bodyPr wrap="square" rtlCol="0" anchor="t"/>
          <a:lstStyle/>
          <a:p>
            <a:pPr indent="0" marL="0">
              <a:lnSpc>
                <a:spcPts val="1350"/>
              </a:lnSpc>
              <a:buNone/>
            </a:pPr>
            <a:r>
              <a:rPr lang="en-US" sz="1000" dirty="0">
                <a:solidFill>
                  <a:srgbClr val="9FAC93"/>
                </a:solidFill>
                <a:latin typeface="Segoe UI" pitchFamily="34" charset="0"/>
                <a:ea typeface="Segoe UI" pitchFamily="34" charset="-122"/>
                <a:cs typeface="Segoe UI" pitchFamily="34" charset="-120"/>
              </a:rPr>
              <a:t>Free-tier infrastructure, a model-agnostic backend and Urdu-first design mean each extra farmer costs almost nothing.</a:t>
            </a:r>
            <a:endParaRPr lang="en-US" sz="1000" dirty="0"/>
          </a:p>
        </p:txBody>
      </p:sp>
      <p:sp>
        <p:nvSpPr>
          <p:cNvPr id="23" name="Text 21"/>
          <p:cNvSpPr/>
          <p:nvPr/>
        </p:nvSpPr>
        <p:spPr>
          <a:xfrm>
            <a:off x="566928" y="5715000"/>
            <a:ext cx="11055096" cy="457200"/>
          </a:xfrm>
          <a:prstGeom prst="rect">
            <a:avLst/>
          </a:prstGeom>
          <a:noFill/>
          <a:ln/>
        </p:spPr>
        <p:txBody>
          <a:bodyPr wrap="square" rtlCol="0" anchor="ctr"/>
          <a:lstStyle/>
          <a:p>
            <a:pPr indent="0" marL="0">
              <a:buNone/>
            </a:pPr>
            <a:r>
              <a:rPr lang="en-US" sz="2400" b="1" dirty="0">
                <a:solidFill>
                  <a:srgbClr val="E9EFE1"/>
                </a:solidFill>
                <a:latin typeface="Segoe UI" pitchFamily="34" charset="0"/>
                <a:ea typeface="Segoe UI" pitchFamily="34" charset="-122"/>
                <a:cs typeface="Segoe UI" pitchFamily="34" charset="-120"/>
              </a:rPr>
              <a:t>Thank you.</a:t>
            </a:r>
            <a:pPr indent="0" marL="0">
              <a:buNone/>
            </a:pPr>
            <a:r>
              <a:rPr lang="en-US" sz="1200" dirty="0">
                <a:solidFill>
                  <a:srgbClr val="6F7D66"/>
                </a:solidFill>
                <a:latin typeface="Segoe UI" pitchFamily="34" charset="0"/>
                <a:ea typeface="Segoe UI" pitchFamily="34" charset="-122"/>
                <a:cs typeface="Segoe UI" pitchFamily="34" charset="-120"/>
              </a:rPr>
              <a:t>    Questions — and an Urdu demo — welcome.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Kissan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Kissan AI — Pitch Deck</dc:title>
  <dc:subject>PptxGenJS Presentation</dc:subject>
  <dc:creator>Muhammad Adeel</dc:creator>
  <cp:lastModifiedBy>Muhammad Adeel</cp:lastModifiedBy>
  <cp:revision>1</cp:revision>
  <dcterms:created xsi:type="dcterms:W3CDTF">2026-10-23T17:08:19Z</dcterms:created>
  <dcterms:modified xsi:type="dcterms:W3CDTF">2026-10-23T17:08:19Z</dcterms:modified>
</cp:coreProperties>
</file>